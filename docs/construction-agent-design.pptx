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promises for this deck: (1) what we built and why each design decision was made; (2) along the way, five transferable lessons in agentic engineering — the discipline of turning a language model into a dependable worker. Every lesson is illustrated by a decision in this codebase, not by theory.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money terms: estimator rework is direct cost; unvalidatable change orders are delayed or lost revenue; missing evidence chains are legal exposure. The agent attacks all three with one mechanism: capture at the source, price only the delta, chain everything to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rationale: field adoption is the graveyard of construction software. We inverted it — instead of dragging crews into an app, the agent joined the channel they already use daily. WhatsApp Business number or a Telegram bot handle; same agent behind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 The 'agentic loop' (industry: tool use / function calling). We give the model a toolbox of ~12 narrow, validated operations. It decides which to call and in what order. Rationale for executives: this is why one conversational interface can replace a dozen forms — capability grows by adding a tool, not by redesigning a UI. Governance lives in the tools, which are ordinary code we control and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 illustrated by estimate import. A GC estimate arrives as a messy spreadsheet. The model performs exactly one act of judgment: mapping columns. Everything else is deterministic code — parsing, copying values, arithmetic checks, subtotal-row skipping. Mismatches are FLAGGED, never silently fixed, and the PM confirms count + total before anything commits. This split is the difference between an impressive demo and a system finance will sign off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is a real run against the live model, not a mock. Rationale: pricing deltas from the base estimate's own unit costs makes every change order self-consistent with the contract price the owner already accepted — which is precisely what makes it validatable. 'Needs pricing' is an honest escape hatch: the agent quantifies what it can and refuses to invent unit costs with no basis.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 generator-verifier architecture. We do not 'trust' the model; we make its output cheap to verify. The output schema is designed so honesty is mandatory (show the math, cite the evidence), then ~80 lines of deterministic validation enforce it. One repair round-trip, then unresolved problems are surfaced to the PM rather than silently accepted. Also note the effort split: chat runs at low reasoning effort for speed; this one call runs at high effort because correctness is worth minutes and cents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rationale: traceability was a requirement, so it's structural, not procedural. The events table physically rejects updates and deletes (database trigger); hashes chain per project; artifacts are stored by content fingerprint so bytes can't be swapped. Honest caveat worth saying aloud: the chain is tamper-EVIDENT, not tamper-proof — it proves alteration happened; notarization (anchoring the chain head externally) is a planned hardening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 context engineering. Three mechanisms in this build: placeholder substitution for media (vision once at ingest, text forever after), prompt caching for the stable system briefing, and tool-mediated retrieval instead of conversation-resident knowledge. Plus effort routing: the same model billed at different reasoning depths per task. Together these keep marginal cost per message roughly constant regardless of project size.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architectural humility is a feature. The differentiated IP is the reconciliation schema, the validators, and the ledger design — roughly 2,000 lines of TypeScript — not exotic infrastructure. Everything else is commodity, chosen for operability by a very small team. 'Optional config groups' is also our testing story: the entire suite runs without credentials or network, so CI can never be blocked by a vendor outage.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 graduated autonomy. Map every agent action to blast radius and reversibility, then set the human gate accordingly. In this system the gates are structural — the approval transition literally has no autonomous path in code. This is the honest answer to 'what if the AI is wrong?': it can be wrong in drafts, which cost a review; it cannot be wrong in commitments, which cost money.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maturity: the intelligence layer is proven against the live model; the persistence layer is fully built and tested but runs in-memory until cloud resources are provisioned (a deliberate cost gate, not a technical one). The pilot metric proposal: estimator hours per change order, and days from change signal to COR sent.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transferable point: none of these five lessons is specific to construction. They are the design discipline for putting language models to work on anything where money, evidence, and trust are involved. This project is the team's working proof that we can apply that discipline end to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65960"/>
            <a:ext cx="10789920" cy="1463040"/>
          </a:xfrm>
          <a:prstGeom prst="rect">
            <a:avLst/>
          </a:prstGeom>
          <a:noFill/>
        </p:spPr>
        <p:txBody>
          <a:bodyPr wrap="square" anchor="t">
            <a:spAutoFit/>
          </a:bodyPr>
          <a:lstStyle/>
          <a:p>
            <a:pPr algn="l">
              <a:lnSpc>
                <a:spcPct val="105000"/>
              </a:lnSpc>
              <a:spcAft>
                <a:spcPts val="600"/>
              </a:spcAft>
            </a:pPr>
            <a:r>
              <a:rPr sz="4400" b="1">
                <a:solidFill>
                  <a:srgbClr val="FFFFFF"/>
                </a:solidFill>
                <a:latin typeface="Avenir Next"/>
              </a:rPr>
              <a:t>A Construction Manager
That Lives in the Crew's Chat</a:t>
            </a:r>
          </a:p>
        </p:txBody>
      </p:sp>
      <p:sp>
        <p:nvSpPr>
          <p:cNvPr id="5" name="TextBox 4"/>
          <p:cNvSpPr txBox="1"/>
          <p:nvPr/>
        </p:nvSpPr>
        <p:spPr>
          <a:xfrm>
            <a:off x="713232" y="3794760"/>
            <a:ext cx="10515600" cy="822960"/>
          </a:xfrm>
          <a:prstGeom prst="rect">
            <a:avLst/>
          </a:prstGeom>
          <a:noFill/>
        </p:spPr>
        <p:txBody>
          <a:bodyPr wrap="square" anchor="t">
            <a:spAutoFit/>
          </a:bodyPr>
          <a:lstStyle/>
          <a:p>
            <a:pPr algn="l">
              <a:lnSpc>
                <a:spcPct val="106000"/>
              </a:lnSpc>
              <a:spcAft>
                <a:spcPts val="600"/>
              </a:spcAft>
            </a:pPr>
            <a:r>
              <a:rPr sz="2000" b="0">
                <a:solidFill>
                  <a:srgbClr val="C9CED8"/>
                </a:solidFill>
                <a:latin typeface="Avenir Next"/>
              </a:rPr>
              <a:t>An AI agent for change management, built for general contractors — and a working case study in agentic engineering</a:t>
            </a:r>
          </a:p>
        </p:txBody>
      </p:sp>
      <p:sp>
        <p:nvSpPr>
          <p:cNvPr id="6" name="TextBox 5"/>
          <p:cNvSpPr txBox="1"/>
          <p:nvPr/>
        </p:nvSpPr>
        <p:spPr>
          <a:xfrm>
            <a:off x="713232" y="5623560"/>
            <a:ext cx="10515600" cy="457200"/>
          </a:xfrm>
          <a:prstGeom prst="rect">
            <a:avLst/>
          </a:prstGeom>
          <a:noFill/>
        </p:spPr>
        <p:txBody>
          <a:bodyPr wrap="square" anchor="t">
            <a:spAutoFit/>
          </a:bodyPr>
          <a:lstStyle/>
          <a:p>
            <a:pPr algn="l">
              <a:lnSpc>
                <a:spcPct val="106000"/>
              </a:lnSpc>
              <a:spcAft>
                <a:spcPts val="600"/>
              </a:spcAft>
            </a:pPr>
            <a:r>
              <a:rPr sz="1400" b="0">
                <a:solidFill>
                  <a:srgbClr val="8A92A3"/>
                </a:solidFill>
                <a:latin typeface="Avenir Next"/>
              </a:rPr>
              <a:t>Design review · Executive briefing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THE BUSINESS PROBLEM</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02</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Change management is where construction margins go to die</a:t>
            </a:r>
          </a:p>
        </p:txBody>
      </p:sp>
      <p:sp>
        <p:nvSpPr>
          <p:cNvPr id="6" name="TextBox 5"/>
          <p:cNvSpPr txBox="1"/>
          <p:nvPr/>
        </p:nvSpPr>
        <p:spPr>
          <a:xfrm>
            <a:off x="502920" y="1783080"/>
            <a:ext cx="11155680" cy="4206240"/>
          </a:xfrm>
          <a:prstGeom prst="rect">
            <a:avLst/>
          </a:prstGeom>
          <a:noFill/>
        </p:spPr>
        <p:txBody>
          <a:bodyPr wrap="square" anchor="t">
            <a:spAutoFit/>
          </a:bodyPr>
          <a:lstStyle/>
          <a:p>
            <a:pPr algn="l">
              <a:lnSpc>
                <a:spcPct val="112000"/>
              </a:lnSpc>
              <a:spcAft>
                <a:spcPts val="1400"/>
              </a:spcAft>
            </a:pPr>
            <a:r>
              <a:rPr sz="1700" b="1">
                <a:solidFill>
                  <a:srgbClr val="1A1F2B"/>
                </a:solidFill>
                <a:latin typeface="Avenir Next"/>
              </a:rPr>
              <a:t>Every change triggers a full re-estimate.</a:t>
            </a:r>
            <a:r>
              <a:rPr sz="1700" b="0">
                <a:solidFill>
                  <a:srgbClr val="4A5568"/>
                </a:solidFill>
                <a:latin typeface="Avenir Next"/>
              </a:rPr>
              <a:t>  —  The original bid gets rebuilt from scratch; unchanged scope gets re-priced; hours of estimator rework per change.</a:t>
            </a:r>
          </a:p>
          <a:p>
            <a:pPr algn="l">
              <a:lnSpc>
                <a:spcPct val="112000"/>
              </a:lnSpc>
              <a:spcAft>
                <a:spcPts val="1400"/>
              </a:spcAft>
            </a:pPr>
            <a:r>
              <a:rPr sz="1700" b="1">
                <a:solidFill>
                  <a:srgbClr val="1A1F2B"/>
                </a:solidFill>
                <a:latin typeface="Avenir Next"/>
              </a:rPr>
              <a:t>The new number can't be validated.</a:t>
            </a:r>
            <a:r>
              <a:rPr sz="1700" b="0">
                <a:solidFill>
                  <a:srgbClr val="4A5568"/>
                </a:solidFill>
                <a:latin typeface="Avenir Next"/>
              </a:rPr>
              <a:t>  —  There is no line-by-line trail from the revised total back to the original estimate, so owners push back and trust erodes.</a:t>
            </a:r>
          </a:p>
          <a:p>
            <a:pPr algn="l">
              <a:lnSpc>
                <a:spcPct val="112000"/>
              </a:lnSpc>
              <a:spcAft>
                <a:spcPts val="1400"/>
              </a:spcAft>
            </a:pPr>
            <a:r>
              <a:rPr sz="1700" b="1">
                <a:solidFill>
                  <a:srgbClr val="1A1F2B"/>
                </a:solidFill>
                <a:latin typeface="Avenir Next"/>
              </a:rPr>
              <a:t>Disputes are settled by memory.</a:t>
            </a:r>
            <a:r>
              <a:rPr sz="1700" b="0">
                <a:solidFill>
                  <a:srgbClr val="4A5568"/>
                </a:solidFill>
                <a:latin typeface="Avenir Next"/>
              </a:rPr>
              <a:t>  —  Photos live in phones, receipts in glove boxes, directives in phone calls. When a dispute lands, the evidence chain doesn't exist.</a:t>
            </a:r>
          </a:p>
        </p:txBody>
      </p:sp>
      <p:sp>
        <p:nvSpPr>
          <p:cNvPr id="7" name="Rounded Rectangle 6"/>
          <p:cNvSpPr/>
          <p:nvPr/>
        </p:nvSpPr>
        <p:spPr>
          <a:xfrm>
            <a:off x="502920" y="4892040"/>
            <a:ext cx="11155680" cy="1234440"/>
          </a:xfrm>
          <a:prstGeom prst="roundRect">
            <a:avLst>
              <a:gd name="adj" fmla="val 12000"/>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138928"/>
            <a:ext cx="10607040" cy="822960"/>
          </a:xfrm>
          <a:prstGeom prst="rect">
            <a:avLst/>
          </a:prstGeom>
          <a:noFill/>
        </p:spPr>
        <p:txBody>
          <a:bodyPr wrap="square" anchor="t">
            <a:spAutoFit/>
          </a:bodyPr>
          <a:lstStyle/>
          <a:p>
            <a:pPr algn="l">
              <a:lnSpc>
                <a:spcPct val="106000"/>
              </a:lnSpc>
              <a:spcAft>
                <a:spcPts val="600"/>
              </a:spcAft>
            </a:pPr>
            <a:r>
              <a:rPr sz="1800" b="1">
                <a:solidFill>
                  <a:srgbClr val="1A1F2B"/>
                </a:solidFill>
                <a:latin typeface="Avenir Next"/>
              </a:rPr>
              <a:t>The thesis:  </a:t>
            </a:r>
            <a:r>
              <a:rPr sz="1800" b="0">
                <a:solidFill>
                  <a:srgbClr val="4A5568"/>
                </a:solidFill>
                <a:latin typeface="Avenir Next"/>
              </a:rPr>
              <a:t>if every field fact is captured the moment it happens, priced against the estimate it changes, and chained to its evidence — rework disappears and disputes become lookups.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WHAT WE BUILT</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03</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The crew already lives in chat — so that's where the agent lives</a:t>
            </a:r>
          </a:p>
        </p:txBody>
      </p:sp>
      <p:sp>
        <p:nvSpPr>
          <p:cNvPr id="6" name="Rounded Rectangle 5"/>
          <p:cNvSpPr/>
          <p:nvPr/>
        </p:nvSpPr>
        <p:spPr>
          <a:xfrm>
            <a:off x="502920" y="2057400"/>
            <a:ext cx="2286000" cy="15544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FIELD CREW</a:t>
            </a:r>
          </a:p>
          <a:p>
            <a:pPr algn="ctr">
              <a:lnSpc>
                <a:spcPct val="100000"/>
              </a:lnSpc>
            </a:pPr>
            <a:r>
              <a:rPr sz="1100">
                <a:solidFill>
                  <a:srgbClr val="4A5568"/>
                </a:solidFill>
                <a:latin typeface="Avenir Next"/>
              </a:rPr>
              <a:t>WhatsApp / Telegram
photos · receipts · plans
estimates · notes</a:t>
            </a:r>
          </a:p>
        </p:txBody>
      </p:sp>
      <p:cxnSp>
        <p:nvCxnSpPr>
          <p:cNvPr id="7" name="Connector 6"/>
          <p:cNvCxnSpPr/>
          <p:nvPr/>
        </p:nvCxnSpPr>
        <p:spPr>
          <a:xfrm>
            <a:off x="2880360" y="2834640"/>
            <a:ext cx="54864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29000" y="2057400"/>
            <a:ext cx="2651760" cy="1554480"/>
          </a:xfrm>
          <a:prstGeom prst="roundRect">
            <a:avLst>
              <a:gd name="adj" fmla="val 14000"/>
            </a:avLst>
          </a:prstGeom>
          <a:solidFill>
            <a:srgbClr val="FDF0E4"/>
          </a:solidFill>
          <a:ln w="12700">
            <a:solidFill>
              <a:srgbClr val="E86C1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B54E08"/>
                </a:solidFill>
                <a:latin typeface="Avenir Next"/>
              </a:rPr>
              <a:t>THE AGENT</a:t>
            </a:r>
          </a:p>
          <a:p>
            <a:pPr algn="ctr">
              <a:lnSpc>
                <a:spcPct val="100000"/>
              </a:lnSpc>
            </a:pPr>
            <a:r>
              <a:rPr sz="1100">
                <a:solidFill>
                  <a:srgbClr val="4A5568"/>
                </a:solidFill>
                <a:latin typeface="Avenir Next"/>
              </a:rPr>
              <a:t>Claude Opus 5
classifies · files · prices
answers in seconds</a:t>
            </a:r>
          </a:p>
        </p:txBody>
      </p:sp>
      <p:cxnSp>
        <p:nvCxnSpPr>
          <p:cNvPr id="9" name="Connector 8"/>
          <p:cNvCxnSpPr/>
          <p:nvPr/>
        </p:nvCxnSpPr>
        <p:spPr>
          <a:xfrm>
            <a:off x="6172200" y="2834640"/>
            <a:ext cx="54864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20840" y="2057400"/>
            <a:ext cx="2468880" cy="15544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SYSTEM OF RECORD</a:t>
            </a:r>
          </a:p>
          <a:p>
            <a:pPr algn="ctr">
              <a:lnSpc>
                <a:spcPct val="100000"/>
              </a:lnSpc>
            </a:pPr>
            <a:r>
              <a:rPr sz="1100">
                <a:solidFill>
                  <a:srgbClr val="4A5568"/>
                </a:solidFill>
                <a:latin typeface="Avenir Next"/>
              </a:rPr>
              <a:t>append-only ledger
estimate versions
change orders</a:t>
            </a:r>
          </a:p>
        </p:txBody>
      </p:sp>
      <p:cxnSp>
        <p:nvCxnSpPr>
          <p:cNvPr id="11" name="Connector 10"/>
          <p:cNvCxnSpPr/>
          <p:nvPr/>
        </p:nvCxnSpPr>
        <p:spPr>
          <a:xfrm>
            <a:off x="9281160" y="2834640"/>
            <a:ext cx="54864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829800" y="2057400"/>
            <a:ext cx="1874519" cy="15544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AUDIT VIEW</a:t>
            </a:r>
          </a:p>
          <a:p>
            <a:pPr algn="ctr">
              <a:lnSpc>
                <a:spcPct val="100000"/>
              </a:lnSpc>
            </a:pPr>
            <a:r>
              <a:rPr sz="1100">
                <a:solidFill>
                  <a:srgbClr val="4A5568"/>
                </a:solidFill>
                <a:latin typeface="Avenir Next"/>
              </a:rPr>
              <a:t>read-only web
dispute lookups</a:t>
            </a:r>
          </a:p>
        </p:txBody>
      </p:sp>
      <p:sp>
        <p:nvSpPr>
          <p:cNvPr id="13" name="TextBox 12"/>
          <p:cNvSpPr txBox="1"/>
          <p:nvPr/>
        </p:nvSpPr>
        <p:spPr>
          <a:xfrm>
            <a:off x="502920" y="4160520"/>
            <a:ext cx="11155680" cy="2560320"/>
          </a:xfrm>
          <a:prstGeom prst="rect">
            <a:avLst/>
          </a:prstGeom>
          <a:noFill/>
        </p:spPr>
        <p:txBody>
          <a:bodyPr wrap="square" anchor="t">
            <a:spAutoFit/>
          </a:bodyPr>
          <a:lstStyle/>
          <a:p>
            <a:pPr algn="l">
              <a:lnSpc>
                <a:spcPct val="112000"/>
              </a:lnSpc>
              <a:spcAft>
                <a:spcPts val="1000"/>
              </a:spcAft>
            </a:pPr>
            <a:r>
              <a:rPr sz="1700" b="1">
                <a:solidFill>
                  <a:srgbClr val="1A1F2B"/>
                </a:solidFill>
                <a:latin typeface="Avenir Next"/>
              </a:rPr>
              <a:t>Zero new apps for the field.</a:t>
            </a:r>
            <a:r>
              <a:rPr sz="1700" b="0">
                <a:solidFill>
                  <a:srgbClr val="4A5568"/>
                </a:solidFill>
                <a:latin typeface="Avenir Next"/>
              </a:rPr>
              <a:t>  —  A photo with a one-line caption is a complete filing. Adoption cost is a phone number.</a:t>
            </a:r>
          </a:p>
          <a:p>
            <a:pPr algn="l">
              <a:lnSpc>
                <a:spcPct val="112000"/>
              </a:lnSpc>
              <a:spcAft>
                <a:spcPts val="1000"/>
              </a:spcAft>
            </a:pPr>
            <a:r>
              <a:rPr sz="1700" b="1">
                <a:solidFill>
                  <a:srgbClr val="1A1F2B"/>
                </a:solidFill>
                <a:latin typeface="Avenir Next"/>
              </a:rPr>
              <a:t>One agent, many jobs.</a:t>
            </a:r>
            <a:r>
              <a:rPr sz="1700" b="0">
                <a:solidFill>
                  <a:srgbClr val="4A5568"/>
                </a:solidFill>
                <a:latin typeface="Avenir Next"/>
              </a:rPr>
              <a:t>  —  Same brain files artifacts, imports estimates, drafts change orders, and answers questions — routed by conversation, not menus.</a:t>
            </a:r>
          </a:p>
          <a:p>
            <a:pPr algn="l">
              <a:lnSpc>
                <a:spcPct val="112000"/>
              </a:lnSpc>
              <a:spcAft>
                <a:spcPts val="1000"/>
              </a:spcAft>
            </a:pPr>
            <a:r>
              <a:rPr sz="1700" b="1">
                <a:solidFill>
                  <a:srgbClr val="1A1F2B"/>
                </a:solidFill>
                <a:latin typeface="Avenir Next"/>
              </a:rPr>
              <a:t>The office gets the ledger.</a:t>
            </a:r>
            <a:r>
              <a:rPr sz="1700" b="0">
                <a:solidFill>
                  <a:srgbClr val="4A5568"/>
                </a:solidFill>
                <a:latin typeface="Avenir Next"/>
              </a:rPr>
              <a:t>  —  Everything the crew sends becomes structured, evidence-linked records the back office and lawyers can walk.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HOW AGENTS ACTUALLY WORK</a:t>
            </a:r>
          </a:p>
        </p:txBody>
      </p:sp>
      <p:sp>
        <p:nvSpPr>
          <p:cNvPr id="4" name="Rounded Rectangle 3"/>
          <p:cNvSpPr/>
          <p:nvPr/>
        </p:nvSpPr>
        <p:spPr>
          <a:xfrm>
            <a:off x="8899855" y="566928"/>
            <a:ext cx="2788920" cy="475488"/>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latin typeface="Avenir Next"/>
              </a:rPr>
              <a:t>AGENTIC ENGINEERING · LESSON 1</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An agent is not a chatbot — it's a loop with hands</a:t>
            </a:r>
          </a:p>
        </p:txBody>
      </p:sp>
      <p:sp>
        <p:nvSpPr>
          <p:cNvPr id="6" name="TextBox 5"/>
          <p:cNvSpPr txBox="1"/>
          <p:nvPr/>
        </p:nvSpPr>
        <p:spPr>
          <a:xfrm>
            <a:off x="502920" y="1600200"/>
            <a:ext cx="11155680" cy="457200"/>
          </a:xfrm>
          <a:prstGeom prst="rect">
            <a:avLst/>
          </a:prstGeom>
          <a:noFill/>
        </p:spPr>
        <p:txBody>
          <a:bodyPr wrap="square" anchor="t">
            <a:spAutoFit/>
          </a:bodyPr>
          <a:lstStyle/>
          <a:p>
            <a:pPr algn="l">
              <a:lnSpc>
                <a:spcPct val="106000"/>
              </a:lnSpc>
              <a:spcAft>
                <a:spcPts val="600"/>
              </a:spcAft>
            </a:pPr>
            <a:r>
              <a:rPr sz="1700" b="1">
                <a:solidFill>
                  <a:srgbClr val="1A1F2B"/>
                </a:solidFill>
                <a:latin typeface="Avenir Next"/>
              </a:rPr>
              <a:t>A chatbot </a:t>
            </a:r>
            <a:r>
              <a:rPr sz="1700" b="0">
                <a:solidFill>
                  <a:srgbClr val="4A5568"/>
                </a:solidFill>
                <a:latin typeface="Avenir Next"/>
              </a:rPr>
              <a:t>answers. </a:t>
            </a:r>
            <a:r>
              <a:rPr sz="1700" b="1">
                <a:solidFill>
                  <a:srgbClr val="1A1F2B"/>
                </a:solidFill>
                <a:latin typeface="Avenir Next"/>
              </a:rPr>
              <a:t>An agent </a:t>
            </a:r>
            <a:r>
              <a:rPr sz="1700" b="0">
                <a:solidFill>
                  <a:srgbClr val="4A5568"/>
                </a:solidFill>
                <a:latin typeface="Avenir Next"/>
              </a:rPr>
              <a:t>decides what to do, does it with tools, reads the result, and repeats until the job is done.</a:t>
            </a:r>
          </a:p>
        </p:txBody>
      </p:sp>
      <p:sp>
        <p:nvSpPr>
          <p:cNvPr id="7" name="Rounded Rectangle 6"/>
          <p:cNvSpPr/>
          <p:nvPr/>
        </p:nvSpPr>
        <p:spPr>
          <a:xfrm>
            <a:off x="822960" y="2377440"/>
            <a:ext cx="2240280" cy="1371600"/>
          </a:xfrm>
          <a:prstGeom prst="roundRect">
            <a:avLst>
              <a:gd name="adj" fmla="val 14000"/>
            </a:avLst>
          </a:prstGeom>
          <a:solidFill>
            <a:srgbClr val="FDF0E4"/>
          </a:solidFill>
          <a:ln w="12700">
            <a:solidFill>
              <a:srgbClr val="E86C1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B54E08"/>
                </a:solidFill>
                <a:latin typeface="Avenir Next"/>
              </a:rPr>
              <a:t>MODEL</a:t>
            </a:r>
          </a:p>
          <a:p>
            <a:pPr algn="ctr">
              <a:lnSpc>
                <a:spcPct val="100000"/>
              </a:lnSpc>
            </a:pPr>
            <a:r>
              <a:rPr sz="1100">
                <a:solidFill>
                  <a:srgbClr val="4A5568"/>
                </a:solidFill>
                <a:latin typeface="Avenir Next"/>
              </a:rPr>
              <a:t>reasons about
the request</a:t>
            </a:r>
          </a:p>
        </p:txBody>
      </p:sp>
      <p:cxnSp>
        <p:nvCxnSpPr>
          <p:cNvPr id="8" name="Connector 7"/>
          <p:cNvCxnSpPr/>
          <p:nvPr/>
        </p:nvCxnSpPr>
        <p:spPr>
          <a:xfrm>
            <a:off x="3108960" y="3063240"/>
            <a:ext cx="41148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66160" y="2377440"/>
            <a:ext cx="2240280" cy="137160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TOOLS</a:t>
            </a:r>
          </a:p>
          <a:p>
            <a:pPr algn="ctr">
              <a:lnSpc>
                <a:spcPct val="100000"/>
              </a:lnSpc>
            </a:pPr>
            <a:r>
              <a:rPr sz="1100">
                <a:solidFill>
                  <a:srgbClr val="4A5568"/>
                </a:solidFill>
                <a:latin typeface="Avenir Next"/>
              </a:rPr>
              <a:t>create_project
record_note
draft_change_order …</a:t>
            </a:r>
          </a:p>
        </p:txBody>
      </p:sp>
      <p:cxnSp>
        <p:nvCxnSpPr>
          <p:cNvPr id="10" name="Connector 9"/>
          <p:cNvCxnSpPr/>
          <p:nvPr/>
        </p:nvCxnSpPr>
        <p:spPr>
          <a:xfrm>
            <a:off x="5852160" y="3063240"/>
            <a:ext cx="41148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309360" y="2377440"/>
            <a:ext cx="2240280" cy="137160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RESULT</a:t>
            </a:r>
          </a:p>
          <a:p>
            <a:pPr algn="ctr">
              <a:lnSpc>
                <a:spcPct val="100000"/>
              </a:lnSpc>
            </a:pPr>
            <a:r>
              <a:rPr sz="1100">
                <a:solidFill>
                  <a:srgbClr val="4A5568"/>
                </a:solidFill>
                <a:latin typeface="Avenir Next"/>
              </a:rPr>
              <a:t>tool output
feeds back in</a:t>
            </a:r>
          </a:p>
        </p:txBody>
      </p:sp>
      <p:cxnSp>
        <p:nvCxnSpPr>
          <p:cNvPr id="12" name="Connector 11"/>
          <p:cNvCxnSpPr/>
          <p:nvPr/>
        </p:nvCxnSpPr>
        <p:spPr>
          <a:xfrm>
            <a:off x="8595360" y="3063240"/>
            <a:ext cx="41148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60" y="2377440"/>
            <a:ext cx="2240280" cy="137160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REPLY</a:t>
            </a:r>
          </a:p>
          <a:p>
            <a:pPr algn="ctr">
              <a:lnSpc>
                <a:spcPct val="100000"/>
              </a:lnSpc>
            </a:pPr>
            <a:r>
              <a:rPr sz="1100">
                <a:solidFill>
                  <a:srgbClr val="4A5568"/>
                </a:solidFill>
                <a:latin typeface="Avenir Next"/>
              </a:rPr>
              <a:t>only when the
work is done</a:t>
            </a:r>
          </a:p>
        </p:txBody>
      </p:sp>
      <p:sp>
        <p:nvSpPr>
          <p:cNvPr id="14" name="TextBox 13"/>
          <p:cNvSpPr txBox="1"/>
          <p:nvPr/>
        </p:nvSpPr>
        <p:spPr>
          <a:xfrm>
            <a:off x="2011680" y="3913632"/>
            <a:ext cx="7772400" cy="365760"/>
          </a:xfrm>
          <a:prstGeom prst="rect">
            <a:avLst/>
          </a:prstGeom>
          <a:noFill/>
        </p:spPr>
        <p:txBody>
          <a:bodyPr wrap="square" anchor="t">
            <a:spAutoFit/>
          </a:bodyPr>
          <a:lstStyle/>
          <a:p>
            <a:pPr algn="ctr">
              <a:lnSpc>
                <a:spcPct val="106000"/>
              </a:lnSpc>
              <a:spcAft>
                <a:spcPts val="600"/>
              </a:spcAft>
            </a:pPr>
            <a:r>
              <a:rPr sz="1300" b="1">
                <a:solidFill>
                  <a:srgbClr val="B54E08"/>
                </a:solidFill>
                <a:latin typeface="Avenir Next"/>
              </a:rPr>
              <a:t>⟲  the loop: the model may call several tools, in sequence or parallel, before it ever speaks</a:t>
            </a:r>
          </a:p>
        </p:txBody>
      </p:sp>
      <p:sp>
        <p:nvSpPr>
          <p:cNvPr id="15" name="Rounded Rectangle 14"/>
          <p:cNvSpPr/>
          <p:nvPr/>
        </p:nvSpPr>
        <p:spPr>
          <a:xfrm>
            <a:off x="502920" y="4572000"/>
            <a:ext cx="11155680" cy="1554480"/>
          </a:xfrm>
          <a:prstGeom prst="roundRect">
            <a:avLst>
              <a:gd name="adj" fmla="val 10000"/>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754880"/>
            <a:ext cx="10607040" cy="1280160"/>
          </a:xfrm>
          <a:prstGeom prst="rect">
            <a:avLst/>
          </a:prstGeom>
          <a:noFill/>
        </p:spPr>
        <p:txBody>
          <a:bodyPr wrap="square" anchor="t">
            <a:spAutoFit/>
          </a:bodyPr>
          <a:lstStyle/>
          <a:p>
            <a:pPr algn="l">
              <a:lnSpc>
                <a:spcPct val="106000"/>
              </a:lnSpc>
              <a:spcAft>
                <a:spcPts val="600"/>
              </a:spcAft>
            </a:pPr>
            <a:r>
              <a:rPr sz="1600" b="1">
                <a:solidFill>
                  <a:srgbClr val="1A1F2B"/>
                </a:solidFill>
                <a:latin typeface="Avenir Next"/>
              </a:rPr>
              <a:t>Seen in production:  </a:t>
            </a:r>
            <a:r>
              <a:rPr sz="1600" b="0">
                <a:solidFill>
                  <a:srgbClr val="4A5568"/>
                </a:solidFill>
                <a:latin typeface="Avenir Next"/>
              </a:rPr>
              <a:t>one message — “Create a project for the Maple Street renovation and log a note that the owner wants the kitchen wall moved 2 feet north” — produced two tool calls (create_project, record_note) and one confirmation reply. Nobody programmed that sequence; the model composed it.</a:t>
            </a:r>
          </a:p>
          <a:p>
            <a:pPr algn="l">
              <a:lnSpc>
                <a:spcPct val="106000"/>
              </a:lnSpc>
              <a:spcAft>
                <a:spcPts val="600"/>
              </a:spcAft>
            </a:pPr>
            <a:r>
              <a:rPr sz="1450" b="1">
                <a:solidFill>
                  <a:srgbClr val="B54E08"/>
                </a:solidFill>
                <a:latin typeface="Avenir Next"/>
              </a:rPr>
              <a:t>The engineering is in the tools you hand it: each tool is small, typed, and audited — the model owns the plan, never the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DIVIDING THE LABOR</a:t>
            </a:r>
          </a:p>
        </p:txBody>
      </p:sp>
      <p:sp>
        <p:nvSpPr>
          <p:cNvPr id="4" name="Rounded Rectangle 3"/>
          <p:cNvSpPr/>
          <p:nvPr/>
        </p:nvSpPr>
        <p:spPr>
          <a:xfrm>
            <a:off x="8899855" y="566928"/>
            <a:ext cx="2788920" cy="475488"/>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latin typeface="Avenir Next"/>
              </a:rPr>
              <a:t>AGENTIC ENGINEERING · LESSON 2</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Judgment goes to the model. Arithmetic goes to code.</a:t>
            </a:r>
          </a:p>
        </p:txBody>
      </p:sp>
      <p:sp>
        <p:nvSpPr>
          <p:cNvPr id="6" name="TextBox 5"/>
          <p:cNvSpPr txBox="1"/>
          <p:nvPr/>
        </p:nvSpPr>
        <p:spPr>
          <a:xfrm>
            <a:off x="502920" y="1554480"/>
            <a:ext cx="11155680" cy="548640"/>
          </a:xfrm>
          <a:prstGeom prst="rect">
            <a:avLst/>
          </a:prstGeom>
          <a:noFill/>
        </p:spPr>
        <p:txBody>
          <a:bodyPr wrap="square" anchor="t">
            <a:spAutoFit/>
          </a:bodyPr>
          <a:lstStyle/>
          <a:p>
            <a:pPr algn="l">
              <a:lnSpc>
                <a:spcPct val="106000"/>
              </a:lnSpc>
              <a:spcAft>
                <a:spcPts val="600"/>
              </a:spcAft>
            </a:pPr>
            <a:r>
              <a:rPr sz="1700" b="0">
                <a:solidFill>
                  <a:srgbClr val="4A5568"/>
                </a:solidFill>
                <a:latin typeface="Avenir Next"/>
              </a:rPr>
              <a:t>The single most important design split in any agent: what may be probabilistic, and what must be exact.</a:t>
            </a:r>
          </a:p>
        </p:txBody>
      </p:sp>
      <p:sp>
        <p:nvSpPr>
          <p:cNvPr id="7" name="Rounded Rectangle 6"/>
          <p:cNvSpPr/>
          <p:nvPr/>
        </p:nvSpPr>
        <p:spPr>
          <a:xfrm>
            <a:off x="502920" y="2194560"/>
            <a:ext cx="5440680" cy="3017520"/>
          </a:xfrm>
          <a:prstGeom prst="roundRect">
            <a:avLst>
              <a:gd name="adj" fmla="val 8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77440"/>
            <a:ext cx="4937760" cy="457200"/>
          </a:xfrm>
          <a:prstGeom prst="rect">
            <a:avLst/>
          </a:prstGeom>
          <a:noFill/>
        </p:spPr>
        <p:txBody>
          <a:bodyPr wrap="square" anchor="t">
            <a:spAutoFit/>
          </a:bodyPr>
          <a:lstStyle/>
          <a:p>
            <a:pPr algn="l">
              <a:lnSpc>
                <a:spcPct val="106000"/>
              </a:lnSpc>
              <a:spcAft>
                <a:spcPts val="600"/>
              </a:spcAft>
            </a:pPr>
            <a:r>
              <a:rPr sz="1500" b="1">
                <a:solidFill>
                  <a:srgbClr val="B54E08"/>
                </a:solidFill>
                <a:latin typeface="Avenir Next"/>
              </a:rPr>
              <a:t>THE MODEL DECIDES</a:t>
            </a:r>
          </a:p>
        </p:txBody>
      </p:sp>
      <p:sp>
        <p:nvSpPr>
          <p:cNvPr id="9" name="TextBox 8"/>
          <p:cNvSpPr txBox="1"/>
          <p:nvPr/>
        </p:nvSpPr>
        <p:spPr>
          <a:xfrm>
            <a:off x="777240" y="2834640"/>
            <a:ext cx="5029200" cy="3886200"/>
          </a:xfrm>
          <a:prstGeom prst="rect">
            <a:avLst/>
          </a:prstGeom>
          <a:noFill/>
        </p:spPr>
        <p:txBody>
          <a:bodyPr wrap="square" anchor="t">
            <a:spAutoFit/>
          </a:bodyPr>
          <a:lstStyle/>
          <a:p>
            <a:pPr algn="l">
              <a:lnSpc>
                <a:spcPct val="112000"/>
              </a:lnSpc>
              <a:spcAft>
                <a:spcPts val="800"/>
              </a:spcAft>
            </a:pPr>
            <a:r>
              <a:rPr sz="1450" b="1">
                <a:solidFill>
                  <a:srgbClr val="1A1F2B"/>
                </a:solidFill>
                <a:latin typeface="Avenir Next"/>
              </a:rPr>
              <a:t>Which spreadsheet column is which</a:t>
            </a:r>
            <a:r>
              <a:rPr sz="1450" b="0">
                <a:solidFill>
                  <a:srgbClr val="4A5568"/>
                </a:solidFill>
                <a:latin typeface="Avenir Next"/>
              </a:rPr>
              <a:t>  —  headers in the wild: “Amt”, “Ext. Price”, “Total $”</a:t>
            </a:r>
          </a:p>
          <a:p>
            <a:pPr algn="l">
              <a:lnSpc>
                <a:spcPct val="112000"/>
              </a:lnSpc>
              <a:spcAft>
                <a:spcPts val="800"/>
              </a:spcAft>
            </a:pPr>
            <a:r>
              <a:rPr sz="1450" b="1">
                <a:solidFill>
                  <a:srgbClr val="1A1F2B"/>
                </a:solidFill>
                <a:latin typeface="Avenir Next"/>
              </a:rPr>
              <a:t>What a photo shows</a:t>
            </a:r>
            <a:r>
              <a:rPr sz="1450" b="0">
                <a:solidFill>
                  <a:srgbClr val="4A5568"/>
                </a:solidFill>
                <a:latin typeface="Avenir Next"/>
              </a:rPr>
              <a:t>  —  “cracked slab, garage bay 3”</a:t>
            </a:r>
          </a:p>
          <a:p>
            <a:pPr algn="l">
              <a:lnSpc>
                <a:spcPct val="112000"/>
              </a:lnSpc>
              <a:spcAft>
                <a:spcPts val="800"/>
              </a:spcAft>
            </a:pPr>
            <a:r>
              <a:rPr sz="1450" b="1">
                <a:solidFill>
                  <a:srgbClr val="1A1F2B"/>
                </a:solidFill>
                <a:latin typeface="Avenir Next"/>
              </a:rPr>
              <a:t>Whether a note signals a scope change</a:t>
            </a:r>
            <a:r>
              <a:rPr sz="1450" b="0">
                <a:solidFill>
                  <a:srgbClr val="4A5568"/>
                </a:solidFill>
                <a:latin typeface="Avenir Next"/>
              </a:rPr>
              <a:t>  —  flags it for the change-order pipeline</a:t>
            </a:r>
          </a:p>
        </p:txBody>
      </p:sp>
      <p:sp>
        <p:nvSpPr>
          <p:cNvPr id="10" name="Rounded Rectangle 9"/>
          <p:cNvSpPr/>
          <p:nvPr/>
        </p:nvSpPr>
        <p:spPr>
          <a:xfrm>
            <a:off x="6263640" y="2194560"/>
            <a:ext cx="5440680" cy="3017520"/>
          </a:xfrm>
          <a:prstGeom prst="roundRect">
            <a:avLst>
              <a:gd name="adj" fmla="val 8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377440"/>
            <a:ext cx="4937760" cy="457200"/>
          </a:xfrm>
          <a:prstGeom prst="rect">
            <a:avLst/>
          </a:prstGeom>
          <a:noFill/>
        </p:spPr>
        <p:txBody>
          <a:bodyPr wrap="square" anchor="t">
            <a:spAutoFit/>
          </a:bodyPr>
          <a:lstStyle/>
          <a:p>
            <a:pPr algn="l">
              <a:lnSpc>
                <a:spcPct val="106000"/>
              </a:lnSpc>
              <a:spcAft>
                <a:spcPts val="600"/>
              </a:spcAft>
            </a:pPr>
            <a:r>
              <a:rPr sz="1500" b="1">
                <a:solidFill>
                  <a:srgbClr val="1A1F2B"/>
                </a:solidFill>
                <a:latin typeface="Avenir Next"/>
              </a:rPr>
              <a:t>CODE GUARANTEES</a:t>
            </a:r>
          </a:p>
        </p:txBody>
      </p:sp>
      <p:sp>
        <p:nvSpPr>
          <p:cNvPr id="12" name="TextBox 11"/>
          <p:cNvSpPr txBox="1"/>
          <p:nvPr/>
        </p:nvSpPr>
        <p:spPr>
          <a:xfrm>
            <a:off x="6537960" y="2834640"/>
            <a:ext cx="5029200" cy="3886200"/>
          </a:xfrm>
          <a:prstGeom prst="rect">
            <a:avLst/>
          </a:prstGeom>
          <a:noFill/>
        </p:spPr>
        <p:txBody>
          <a:bodyPr wrap="square" anchor="t">
            <a:spAutoFit/>
          </a:bodyPr>
          <a:lstStyle/>
          <a:p>
            <a:pPr algn="l">
              <a:lnSpc>
                <a:spcPct val="112000"/>
              </a:lnSpc>
              <a:spcAft>
                <a:spcPts val="800"/>
              </a:spcAft>
            </a:pPr>
            <a:r>
              <a:rPr sz="1450" b="1">
                <a:solidFill>
                  <a:srgbClr val="1A1F2B"/>
                </a:solidFill>
                <a:latin typeface="Avenir Next"/>
              </a:rPr>
              <a:t>Every number copied, never retyped</a:t>
            </a:r>
            <a:r>
              <a:rPr sz="1450" b="0">
                <a:solidFill>
                  <a:srgbClr val="4A5568"/>
                </a:solidFill>
                <a:latin typeface="Avenir Next"/>
              </a:rPr>
              <a:t>  —  cell values flow from the file, not from the model's memory</a:t>
            </a:r>
          </a:p>
          <a:p>
            <a:pPr algn="l">
              <a:lnSpc>
                <a:spcPct val="112000"/>
              </a:lnSpc>
              <a:spcAft>
                <a:spcPts val="800"/>
              </a:spcAft>
            </a:pPr>
            <a:r>
              <a:rPr sz="1450" b="1">
                <a:solidFill>
                  <a:srgbClr val="1A1F2B"/>
                </a:solidFill>
                <a:latin typeface="Avenir Next"/>
              </a:rPr>
              <a:t>Every total re-multiplied</a:t>
            </a:r>
            <a:r>
              <a:rPr sz="1450" b="0">
                <a:solidFill>
                  <a:srgbClr val="4A5568"/>
                </a:solidFill>
                <a:latin typeface="Avenir Next"/>
              </a:rPr>
              <a:t>  —  qty × unit cost is checked in code, to the cent</a:t>
            </a:r>
          </a:p>
          <a:p>
            <a:pPr algn="l">
              <a:lnSpc>
                <a:spcPct val="112000"/>
              </a:lnSpc>
              <a:spcAft>
                <a:spcPts val="800"/>
              </a:spcAft>
            </a:pPr>
            <a:r>
              <a:rPr sz="1450" b="1">
                <a:solidFill>
                  <a:srgbClr val="1A1F2B"/>
                </a:solidFill>
                <a:latin typeface="Avenir Next"/>
              </a:rPr>
              <a:t>Nothing commits without confirmation</a:t>
            </a:r>
            <a:r>
              <a:rPr sz="1450" b="0">
                <a:solidFill>
                  <a:srgbClr val="4A5568"/>
                </a:solidFill>
                <a:latin typeface="Avenir Next"/>
              </a:rPr>
              <a:t>  —  “214 lines, $1,243,880 — import as v1?”</a:t>
            </a:r>
          </a:p>
        </p:txBody>
      </p:sp>
      <p:sp>
        <p:nvSpPr>
          <p:cNvPr id="13" name="Rounded Rectangle 12"/>
          <p:cNvSpPr/>
          <p:nvPr/>
        </p:nvSpPr>
        <p:spPr>
          <a:xfrm>
            <a:off x="502920" y="5486400"/>
            <a:ext cx="11155680" cy="914400"/>
          </a:xfrm>
          <a:prstGeom prst="roundRect">
            <a:avLst>
              <a:gd name="adj" fmla="val 10000"/>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650992"/>
            <a:ext cx="10607040" cy="64008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Why it matters:  </a:t>
            </a:r>
            <a:r>
              <a:rPr sz="1550" b="0">
                <a:solidFill>
                  <a:srgbClr val="4A5568"/>
                </a:solidFill>
                <a:latin typeface="Avenir Next"/>
              </a:rPr>
              <a:t>models are superb at reading messy human artifacts and unreliable at arithmetic under pressure. Architect so a model error can misroute a value but never invent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THE CORE CAPABILITY</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06</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Change requests are reconciled, not re-estimated</a:t>
            </a:r>
          </a:p>
        </p:txBody>
      </p:sp>
      <p:sp>
        <p:nvSpPr>
          <p:cNvPr id="6" name="TextBox 5"/>
          <p:cNvSpPr txBox="1"/>
          <p:nvPr/>
        </p:nvSpPr>
        <p:spPr>
          <a:xfrm>
            <a:off x="502920" y="1554480"/>
            <a:ext cx="11155680" cy="548640"/>
          </a:xfrm>
          <a:prstGeom prst="rect">
            <a:avLst/>
          </a:prstGeom>
          <a:noFill/>
        </p:spPr>
        <p:txBody>
          <a:bodyPr wrap="square" anchor="t">
            <a:spAutoFit/>
          </a:bodyPr>
          <a:lstStyle/>
          <a:p>
            <a:pPr algn="l">
              <a:lnSpc>
                <a:spcPct val="106000"/>
              </a:lnSpc>
              <a:spcAft>
                <a:spcPts val="600"/>
              </a:spcAft>
            </a:pPr>
            <a:r>
              <a:rPr sz="1700" b="0">
                <a:solidFill>
                  <a:srgbClr val="4A5568"/>
                </a:solidFill>
                <a:latin typeface="Avenir Next"/>
              </a:rPr>
              <a:t>A change is priced as a diff against the current estimate: extra work added, deleted work credited, everything else untouched.</a:t>
            </a:r>
          </a:p>
        </p:txBody>
      </p:sp>
      <p:sp>
        <p:nvSpPr>
          <p:cNvPr id="7" name="Rounded Rectangle 6"/>
          <p:cNvSpPr/>
          <p:nvPr/>
        </p:nvSpPr>
        <p:spPr>
          <a:xfrm>
            <a:off x="502920" y="2240280"/>
            <a:ext cx="11155680" cy="2880360"/>
          </a:xfrm>
          <a:prstGeom prst="roundRect">
            <a:avLst>
              <a:gd name="adj" fmla="val 8000"/>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10424160" cy="457200"/>
          </a:xfrm>
          <a:prstGeom prst="rect">
            <a:avLst/>
          </a:prstGeom>
          <a:noFill/>
        </p:spPr>
        <p:txBody>
          <a:bodyPr wrap="square" anchor="t">
            <a:spAutoFit/>
          </a:bodyPr>
          <a:lstStyle/>
          <a:p>
            <a:pPr algn="l">
              <a:lnSpc>
                <a:spcPct val="106000"/>
              </a:lnSpc>
              <a:spcAft>
                <a:spcPts val="600"/>
              </a:spcAft>
            </a:pPr>
            <a:r>
              <a:rPr sz="1400" b="1">
                <a:solidFill>
                  <a:srgbClr val="E86C1A"/>
                </a:solidFill>
                <a:latin typeface="Avenir Next"/>
              </a:rPr>
              <a:t>LIVE RUN — “Move the kitchen wall 2 ft north”  ·  drafted in 14 seconds</a:t>
            </a:r>
          </a:p>
        </p:txBody>
      </p:sp>
      <p:sp>
        <p:nvSpPr>
          <p:cNvPr id="9" name="TextBox 8"/>
          <p:cNvSpPr txBox="1"/>
          <p:nvPr/>
        </p:nvSpPr>
        <p:spPr>
          <a:xfrm>
            <a:off x="868680" y="3063240"/>
            <a:ext cx="1005840" cy="365760"/>
          </a:xfrm>
          <a:prstGeom prst="rect">
            <a:avLst/>
          </a:prstGeom>
          <a:noFill/>
        </p:spPr>
        <p:txBody>
          <a:bodyPr wrap="square" anchor="t">
            <a:spAutoFit/>
          </a:bodyPr>
          <a:lstStyle/>
          <a:p>
            <a:pPr algn="l">
              <a:lnSpc>
                <a:spcPct val="106000"/>
              </a:lnSpc>
              <a:spcAft>
                <a:spcPts val="600"/>
              </a:spcAft>
            </a:pPr>
            <a:r>
              <a:rPr sz="1400" b="1">
                <a:solidFill>
                  <a:srgbClr val="1E7A3C"/>
                </a:solidFill>
                <a:latin typeface="Avenir Next"/>
              </a:rPr>
              <a:t>ADD</a:t>
            </a:r>
          </a:p>
        </p:txBody>
      </p:sp>
      <p:sp>
        <p:nvSpPr>
          <p:cNvPr id="10" name="TextBox 9"/>
          <p:cNvSpPr txBox="1"/>
          <p:nvPr/>
        </p:nvSpPr>
        <p:spPr>
          <a:xfrm>
            <a:off x="1965960" y="3063240"/>
            <a:ext cx="4206240" cy="365760"/>
          </a:xfrm>
          <a:prstGeom prst="rect">
            <a:avLst/>
          </a:prstGeom>
          <a:noFill/>
        </p:spPr>
        <p:txBody>
          <a:bodyPr wrap="square" anchor="t">
            <a:spAutoFit/>
          </a:bodyPr>
          <a:lstStyle/>
          <a:p>
            <a:pPr algn="l">
              <a:lnSpc>
                <a:spcPct val="106000"/>
              </a:lnSpc>
              <a:spcAft>
                <a:spcPts val="600"/>
              </a:spcAft>
            </a:pPr>
            <a:r>
              <a:rPr sz="1400" b="0">
                <a:solidFill>
                  <a:srgbClr val="FFFFFF"/>
                </a:solidFill>
                <a:latin typeface="Avenir Next"/>
              </a:rPr>
              <a:t>120 SF drywall — the moved wall</a:t>
            </a:r>
          </a:p>
        </p:txBody>
      </p:sp>
      <p:sp>
        <p:nvSpPr>
          <p:cNvPr id="11" name="TextBox 10"/>
          <p:cNvSpPr txBox="1"/>
          <p:nvPr/>
        </p:nvSpPr>
        <p:spPr>
          <a:xfrm>
            <a:off x="6309360" y="3063240"/>
            <a:ext cx="3017520" cy="365760"/>
          </a:xfrm>
          <a:prstGeom prst="rect">
            <a:avLst/>
          </a:prstGeom>
          <a:noFill/>
        </p:spPr>
        <p:txBody>
          <a:bodyPr wrap="square" anchor="t">
            <a:spAutoFit/>
          </a:bodyPr>
          <a:lstStyle/>
          <a:p>
            <a:pPr algn="l">
              <a:lnSpc>
                <a:spcPct val="106000"/>
              </a:lnSpc>
              <a:spcAft>
                <a:spcPts val="600"/>
              </a:spcAft>
            </a:pPr>
            <a:r>
              <a:rPr sz="1300" b="0">
                <a:solidFill>
                  <a:srgbClr val="C9CED8"/>
                </a:solidFill>
                <a:latin typeface="Avenir Next"/>
              </a:rPr>
              <a:t>120 SF × $2.25/SF = $270.00</a:t>
            </a:r>
          </a:p>
        </p:txBody>
      </p:sp>
      <p:sp>
        <p:nvSpPr>
          <p:cNvPr id="12" name="TextBox 11"/>
          <p:cNvSpPr txBox="1"/>
          <p:nvPr/>
        </p:nvSpPr>
        <p:spPr>
          <a:xfrm>
            <a:off x="9418320" y="3063240"/>
            <a:ext cx="2194560" cy="365760"/>
          </a:xfrm>
          <a:prstGeom prst="rect">
            <a:avLst/>
          </a:prstGeom>
          <a:noFill/>
        </p:spPr>
        <p:txBody>
          <a:bodyPr wrap="square" anchor="t">
            <a:spAutoFit/>
          </a:bodyPr>
          <a:lstStyle/>
          <a:p>
            <a:pPr algn="l">
              <a:lnSpc>
                <a:spcPct val="106000"/>
              </a:lnSpc>
              <a:spcAft>
                <a:spcPts val="600"/>
              </a:spcAft>
            </a:pPr>
            <a:r>
              <a:rPr sz="1200" b="0">
                <a:solidFill>
                  <a:srgbClr val="8A92A3"/>
                </a:solidFill>
                <a:latin typeface="Avenir Next"/>
              </a:rPr>
              <a:t>priced from estimate line 1</a:t>
            </a:r>
          </a:p>
        </p:txBody>
      </p:sp>
      <p:sp>
        <p:nvSpPr>
          <p:cNvPr id="13" name="TextBox 12"/>
          <p:cNvSpPr txBox="1"/>
          <p:nvPr/>
        </p:nvSpPr>
        <p:spPr>
          <a:xfrm>
            <a:off x="868680" y="3538728"/>
            <a:ext cx="1005840" cy="365760"/>
          </a:xfrm>
          <a:prstGeom prst="rect">
            <a:avLst/>
          </a:prstGeom>
          <a:noFill/>
        </p:spPr>
        <p:txBody>
          <a:bodyPr wrap="square" anchor="t">
            <a:spAutoFit/>
          </a:bodyPr>
          <a:lstStyle/>
          <a:p>
            <a:pPr algn="l">
              <a:lnSpc>
                <a:spcPct val="106000"/>
              </a:lnSpc>
              <a:spcAft>
                <a:spcPts val="600"/>
              </a:spcAft>
            </a:pPr>
            <a:r>
              <a:rPr sz="1400" b="1">
                <a:solidFill>
                  <a:srgbClr val="E09A30"/>
                </a:solidFill>
                <a:latin typeface="Avenir Next"/>
              </a:rPr>
              <a:t>CREDIT</a:t>
            </a:r>
          </a:p>
        </p:txBody>
      </p:sp>
      <p:sp>
        <p:nvSpPr>
          <p:cNvPr id="14" name="TextBox 13"/>
          <p:cNvSpPr txBox="1"/>
          <p:nvPr/>
        </p:nvSpPr>
        <p:spPr>
          <a:xfrm>
            <a:off x="1965960" y="3538728"/>
            <a:ext cx="4206240" cy="365760"/>
          </a:xfrm>
          <a:prstGeom prst="rect">
            <a:avLst/>
          </a:prstGeom>
          <a:noFill/>
        </p:spPr>
        <p:txBody>
          <a:bodyPr wrap="square" anchor="t">
            <a:spAutoFit/>
          </a:bodyPr>
          <a:lstStyle/>
          <a:p>
            <a:pPr algn="l">
              <a:lnSpc>
                <a:spcPct val="106000"/>
              </a:lnSpc>
              <a:spcAft>
                <a:spcPts val="600"/>
              </a:spcAft>
            </a:pPr>
            <a:r>
              <a:rPr sz="1400" b="0">
                <a:solidFill>
                  <a:srgbClr val="FFFFFF"/>
                </a:solidFill>
                <a:latin typeface="Avenir Next"/>
              </a:rPr>
              <a:t>40 SF drywall — deleted closet</a:t>
            </a:r>
          </a:p>
        </p:txBody>
      </p:sp>
      <p:sp>
        <p:nvSpPr>
          <p:cNvPr id="15" name="TextBox 14"/>
          <p:cNvSpPr txBox="1"/>
          <p:nvPr/>
        </p:nvSpPr>
        <p:spPr>
          <a:xfrm>
            <a:off x="6309360" y="3538728"/>
            <a:ext cx="3017520" cy="365760"/>
          </a:xfrm>
          <a:prstGeom prst="rect">
            <a:avLst/>
          </a:prstGeom>
          <a:noFill/>
        </p:spPr>
        <p:txBody>
          <a:bodyPr wrap="square" anchor="t">
            <a:spAutoFit/>
          </a:bodyPr>
          <a:lstStyle/>
          <a:p>
            <a:pPr algn="l">
              <a:lnSpc>
                <a:spcPct val="106000"/>
              </a:lnSpc>
              <a:spcAft>
                <a:spcPts val="600"/>
              </a:spcAft>
            </a:pPr>
            <a:r>
              <a:rPr sz="1300" b="0">
                <a:solidFill>
                  <a:srgbClr val="C9CED8"/>
                </a:solidFill>
                <a:latin typeface="Avenir Next"/>
              </a:rPr>
              <a:t>40 SF × $2.25/SF = $90.00</a:t>
            </a:r>
          </a:p>
        </p:txBody>
      </p:sp>
      <p:sp>
        <p:nvSpPr>
          <p:cNvPr id="16" name="TextBox 15"/>
          <p:cNvSpPr txBox="1"/>
          <p:nvPr/>
        </p:nvSpPr>
        <p:spPr>
          <a:xfrm>
            <a:off x="9418320" y="3538728"/>
            <a:ext cx="2194560" cy="365760"/>
          </a:xfrm>
          <a:prstGeom prst="rect">
            <a:avLst/>
          </a:prstGeom>
          <a:noFill/>
        </p:spPr>
        <p:txBody>
          <a:bodyPr wrap="square" anchor="t">
            <a:spAutoFit/>
          </a:bodyPr>
          <a:lstStyle/>
          <a:p>
            <a:pPr algn="l">
              <a:lnSpc>
                <a:spcPct val="106000"/>
              </a:lnSpc>
              <a:spcAft>
                <a:spcPts val="600"/>
              </a:spcAft>
            </a:pPr>
            <a:r>
              <a:rPr sz="1200" b="0">
                <a:solidFill>
                  <a:srgbClr val="8A92A3"/>
                </a:solidFill>
                <a:latin typeface="Avenir Next"/>
              </a:rPr>
              <a:t>bounded by its base line</a:t>
            </a:r>
          </a:p>
        </p:txBody>
      </p:sp>
      <p:sp>
        <p:nvSpPr>
          <p:cNvPr id="17" name="TextBox 16"/>
          <p:cNvSpPr txBox="1"/>
          <p:nvPr/>
        </p:nvSpPr>
        <p:spPr>
          <a:xfrm>
            <a:off x="868680" y="4105656"/>
            <a:ext cx="10424160" cy="731520"/>
          </a:xfrm>
          <a:prstGeom prst="rect">
            <a:avLst/>
          </a:prstGeom>
          <a:noFill/>
        </p:spPr>
        <p:txBody>
          <a:bodyPr wrap="square" anchor="t">
            <a:spAutoFit/>
          </a:bodyPr>
          <a:lstStyle/>
          <a:p>
            <a:pPr algn="l">
              <a:lnSpc>
                <a:spcPct val="106000"/>
              </a:lnSpc>
              <a:spcAft>
                <a:spcPts val="600"/>
              </a:spcAft>
            </a:pPr>
            <a:r>
              <a:rPr sz="2000" b="1">
                <a:solidFill>
                  <a:srgbClr val="FFFFFF"/>
                </a:solidFill>
                <a:latin typeface="Avenir Next"/>
              </a:rPr>
              <a:t>NET  $180.00</a:t>
            </a:r>
            <a:r>
              <a:rPr sz="1350" b="0">
                <a:solidFill>
                  <a:srgbClr val="C9CED8"/>
                </a:solidFill>
                <a:latin typeface="Avenir Next"/>
              </a:rPr>
              <a:t>      slab and all other scope: untouched  ·  every line cites the owner's note as evidence</a:t>
            </a:r>
          </a:p>
        </p:txBody>
      </p:sp>
      <p:sp>
        <p:nvSpPr>
          <p:cNvPr id="18" name="TextBox 17"/>
          <p:cNvSpPr txBox="1"/>
          <p:nvPr/>
        </p:nvSpPr>
        <p:spPr>
          <a:xfrm>
            <a:off x="502920" y="5440680"/>
            <a:ext cx="11155680" cy="1280160"/>
          </a:xfrm>
          <a:prstGeom prst="rect">
            <a:avLst/>
          </a:prstGeom>
          <a:noFill/>
        </p:spPr>
        <p:txBody>
          <a:bodyPr wrap="square" anchor="t">
            <a:spAutoFit/>
          </a:bodyPr>
          <a:lstStyle/>
          <a:p>
            <a:pPr algn="l">
              <a:lnSpc>
                <a:spcPct val="112000"/>
              </a:lnSpc>
              <a:spcAft>
                <a:spcPts val="800"/>
              </a:spcAft>
            </a:pPr>
            <a:r>
              <a:rPr sz="1550" b="1">
                <a:solidFill>
                  <a:srgbClr val="1A1F2B"/>
                </a:solidFill>
                <a:latin typeface="Avenir Next"/>
              </a:rPr>
              <a:t>Unit costs come from the winning bid, not thin air.</a:t>
            </a:r>
            <a:r>
              <a:rPr sz="1550" b="0">
                <a:solidFill>
                  <a:srgbClr val="4A5568"/>
                </a:solidFill>
                <a:latin typeface="Avenir Next"/>
              </a:rPr>
              <a:t>  —  New work inherits pricing from the comparable estimate line; genuinely new scope is marked “needs pricing” rather than guessed.</a:t>
            </a:r>
          </a:p>
          <a:p>
            <a:pPr algn="l">
              <a:lnSpc>
                <a:spcPct val="112000"/>
              </a:lnSpc>
              <a:spcAft>
                <a:spcPts val="800"/>
              </a:spcAft>
            </a:pPr>
            <a:r>
              <a:rPr sz="1550" b="1">
                <a:solidFill>
                  <a:srgbClr val="1A1F2B"/>
                </a:solidFill>
                <a:latin typeface="Avenir Next"/>
              </a:rPr>
              <a:t>This is the estimator's method, automated.</a:t>
            </a:r>
            <a:r>
              <a:rPr sz="1550" b="0">
                <a:solidFill>
                  <a:srgbClr val="4A5568"/>
                </a:solidFill>
                <a:latin typeface="Avenir Next"/>
              </a:rPr>
              <a:t>  —  The agent applies the discipline good estimators already use — it just never skips it under deadline pressure.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TRUST ARCHITECTURE</a:t>
            </a:r>
          </a:p>
        </p:txBody>
      </p:sp>
      <p:sp>
        <p:nvSpPr>
          <p:cNvPr id="4" name="Rounded Rectangle 3"/>
          <p:cNvSpPr/>
          <p:nvPr/>
        </p:nvSpPr>
        <p:spPr>
          <a:xfrm>
            <a:off x="8899855" y="566928"/>
            <a:ext cx="2788920" cy="475488"/>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latin typeface="Avenir Next"/>
              </a:rPr>
              <a:t>AGENTIC ENGINEERING · LESSON 3</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Never let a model near money without a verifier</a:t>
            </a:r>
          </a:p>
        </p:txBody>
      </p:sp>
      <p:sp>
        <p:nvSpPr>
          <p:cNvPr id="6" name="TextBox 5"/>
          <p:cNvSpPr txBox="1"/>
          <p:nvPr/>
        </p:nvSpPr>
        <p:spPr>
          <a:xfrm>
            <a:off x="502920" y="1572768"/>
            <a:ext cx="11155680" cy="548640"/>
          </a:xfrm>
          <a:prstGeom prst="rect">
            <a:avLst/>
          </a:prstGeom>
          <a:noFill/>
        </p:spPr>
        <p:txBody>
          <a:bodyPr wrap="square" anchor="t">
            <a:spAutoFit/>
          </a:bodyPr>
          <a:lstStyle/>
          <a:p>
            <a:pPr algn="l">
              <a:lnSpc>
                <a:spcPct val="106000"/>
              </a:lnSpc>
              <a:spcAft>
                <a:spcPts val="600"/>
              </a:spcAft>
            </a:pPr>
            <a:r>
              <a:rPr sz="1700" b="0">
                <a:solidFill>
                  <a:srgbClr val="4A5568"/>
                </a:solidFill>
                <a:latin typeface="Avenir Next"/>
              </a:rPr>
              <a:t>The draft is generated with maximum reasoning effort — then interrogated by plain code before anything is saved.</a:t>
            </a:r>
          </a:p>
        </p:txBody>
      </p:sp>
      <p:sp>
        <p:nvSpPr>
          <p:cNvPr id="7" name="Rounded Rectangle 6"/>
          <p:cNvSpPr/>
          <p:nvPr/>
        </p:nvSpPr>
        <p:spPr>
          <a:xfrm>
            <a:off x="502920" y="2331720"/>
            <a:ext cx="2514600" cy="1325880"/>
          </a:xfrm>
          <a:prstGeom prst="roundRect">
            <a:avLst>
              <a:gd name="adj" fmla="val 14000"/>
            </a:avLst>
          </a:prstGeom>
          <a:solidFill>
            <a:srgbClr val="FDF0E4"/>
          </a:solidFill>
          <a:ln w="12700">
            <a:solidFill>
              <a:srgbClr val="E86C1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B54E08"/>
                </a:solidFill>
                <a:latin typeface="Avenir Next"/>
              </a:rPr>
              <a:t>GENERATE</a:t>
            </a:r>
          </a:p>
          <a:p>
            <a:pPr algn="ctr">
              <a:lnSpc>
                <a:spcPct val="100000"/>
              </a:lnSpc>
            </a:pPr>
            <a:r>
              <a:rPr sz="1100">
                <a:solidFill>
                  <a:srgbClr val="4A5568"/>
                </a:solidFill>
                <a:latin typeface="Avenir Next"/>
              </a:rPr>
              <a:t>model drafts the delta
(deep-reasoning mode)</a:t>
            </a:r>
          </a:p>
        </p:txBody>
      </p:sp>
      <p:cxnSp>
        <p:nvCxnSpPr>
          <p:cNvPr id="8" name="Connector 7"/>
          <p:cNvCxnSpPr/>
          <p:nvPr/>
        </p:nvCxnSpPr>
        <p:spPr>
          <a:xfrm>
            <a:off x="3108960" y="2990088"/>
            <a:ext cx="45720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66160" y="2331720"/>
            <a:ext cx="2697480" cy="13258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VALIDATE (CODE)</a:t>
            </a:r>
          </a:p>
          <a:p>
            <a:pPr algn="ctr">
              <a:lnSpc>
                <a:spcPct val="100000"/>
              </a:lnSpc>
            </a:pPr>
            <a:r>
              <a:rPr sz="1100">
                <a:solidFill>
                  <a:srgbClr val="4A5568"/>
                </a:solidFill>
                <a:latin typeface="Avenir Next"/>
              </a:rPr>
              <a:t>re-multiply every line
check citations &amp; bounds</a:t>
            </a:r>
          </a:p>
        </p:txBody>
      </p:sp>
      <p:cxnSp>
        <p:nvCxnSpPr>
          <p:cNvPr id="10" name="Connector 9"/>
          <p:cNvCxnSpPr/>
          <p:nvPr/>
        </p:nvCxnSpPr>
        <p:spPr>
          <a:xfrm>
            <a:off x="6355080" y="2990088"/>
            <a:ext cx="45720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812280" y="2331720"/>
            <a:ext cx="2514600" cy="13258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REPAIR ×1</a:t>
            </a:r>
          </a:p>
          <a:p>
            <a:pPr algn="ctr">
              <a:lnSpc>
                <a:spcPct val="100000"/>
              </a:lnSpc>
            </a:pPr>
            <a:r>
              <a:rPr sz="1100">
                <a:solidFill>
                  <a:srgbClr val="4A5568"/>
                </a:solidFill>
                <a:latin typeface="Avenir Next"/>
              </a:rPr>
              <a:t>failures sent back
with exact reasons</a:t>
            </a:r>
          </a:p>
        </p:txBody>
      </p:sp>
      <p:cxnSp>
        <p:nvCxnSpPr>
          <p:cNvPr id="12" name="Connector 11"/>
          <p:cNvCxnSpPr/>
          <p:nvPr/>
        </p:nvCxnSpPr>
        <p:spPr>
          <a:xfrm>
            <a:off x="9418320" y="2990088"/>
            <a:ext cx="457200" cy="0"/>
          </a:xfrm>
          <a:prstGeom prst="bentConnector3">
            <a:avLst/>
          </a:prstGeom>
          <a:ln w="27940">
            <a:solidFill>
              <a:srgbClr val="4A5568"/>
            </a:solidFill>
            <a:tailEnd type="arrow"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2331720"/>
            <a:ext cx="1828800" cy="132588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HUMAN GATE</a:t>
            </a:r>
          </a:p>
          <a:p>
            <a:pPr algn="ctr">
              <a:lnSpc>
                <a:spcPct val="100000"/>
              </a:lnSpc>
            </a:pPr>
            <a:r>
              <a:rPr sz="1100">
                <a:solidFill>
                  <a:srgbClr val="4A5568"/>
                </a:solidFill>
                <a:latin typeface="Avenir Next"/>
              </a:rPr>
              <a:t>PM reviews;
flags never hidden</a:t>
            </a:r>
          </a:p>
        </p:txBody>
      </p:sp>
      <p:sp>
        <p:nvSpPr>
          <p:cNvPr id="14" name="TextBox 13"/>
          <p:cNvSpPr txBox="1"/>
          <p:nvPr/>
        </p:nvSpPr>
        <p:spPr>
          <a:xfrm>
            <a:off x="502920" y="4069080"/>
            <a:ext cx="11155680" cy="2651760"/>
          </a:xfrm>
          <a:prstGeom prst="rect">
            <a:avLst/>
          </a:prstGeom>
          <a:noFill/>
        </p:spPr>
        <p:txBody>
          <a:bodyPr wrap="square" anchor="t">
            <a:spAutoFit/>
          </a:bodyPr>
          <a:lstStyle/>
          <a:p>
            <a:pPr algn="l">
              <a:lnSpc>
                <a:spcPct val="112000"/>
              </a:lnSpc>
              <a:spcAft>
                <a:spcPts val="900"/>
              </a:spcAft>
            </a:pPr>
            <a:r>
              <a:rPr sz="1550" b="1">
                <a:solidFill>
                  <a:srgbClr val="1A1F2B"/>
                </a:solidFill>
                <a:latin typeface="Avenir Next"/>
              </a:rPr>
              <a:t>The schema forces the model to show its work.</a:t>
            </a:r>
            <a:r>
              <a:rPr sz="1550" b="0">
                <a:solidFill>
                  <a:srgbClr val="4A5568"/>
                </a:solidFill>
                <a:latin typeface="Avenir Next"/>
              </a:rPr>
              <a:t>  —  Every line must name its pricing basis, its math, and the evidence events it derives from — omission is a validation failure, not a style choice.</a:t>
            </a:r>
          </a:p>
          <a:p>
            <a:pPr algn="l">
              <a:lnSpc>
                <a:spcPct val="112000"/>
              </a:lnSpc>
              <a:spcAft>
                <a:spcPts val="900"/>
              </a:spcAft>
            </a:pPr>
            <a:r>
              <a:rPr sz="1550" b="1">
                <a:solidFill>
                  <a:srgbClr val="1A1F2B"/>
                </a:solidFill>
                <a:latin typeface="Avenir Next"/>
              </a:rPr>
              <a:t>Code checks what code is good at.</a:t>
            </a:r>
            <a:r>
              <a:rPr sz="1550" b="0">
                <a:solidFill>
                  <a:srgbClr val="4A5568"/>
                </a:solidFill>
                <a:latin typeface="Avenir Next"/>
              </a:rPr>
              <a:t>  —  qty × unit cost = total; citations must exist in the evidence set; a credit can never exceed the line it credits.</a:t>
            </a:r>
          </a:p>
          <a:p>
            <a:pPr algn="l">
              <a:lnSpc>
                <a:spcPct val="112000"/>
              </a:lnSpc>
              <a:spcAft>
                <a:spcPts val="900"/>
              </a:spcAft>
            </a:pPr>
            <a:r>
              <a:rPr sz="1550" b="1">
                <a:solidFill>
                  <a:srgbClr val="1A1F2B"/>
                </a:solidFill>
                <a:latin typeface="Avenir Next"/>
              </a:rPr>
              <a:t>Approval is structurally human.</a:t>
            </a:r>
            <a:r>
              <a:rPr sz="1550" b="0">
                <a:solidFill>
                  <a:srgbClr val="4A5568"/>
                </a:solidFill>
                <a:latin typeface="Avenir Next"/>
              </a:rPr>
              <a:t>  —  Draft → change-order-request → approved is a workflow the model cannot advance; only the PM's explicit instruction moves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DISPUTE-PROOFING</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08</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The ledger: append-only, hash-chained, evidence-linked</a:t>
            </a:r>
          </a:p>
        </p:txBody>
      </p:sp>
      <p:sp>
        <p:nvSpPr>
          <p:cNvPr id="6" name="TextBox 5"/>
          <p:cNvSpPr txBox="1"/>
          <p:nvPr/>
        </p:nvSpPr>
        <p:spPr>
          <a:xfrm>
            <a:off x="502920" y="1783080"/>
            <a:ext cx="11155680" cy="4206240"/>
          </a:xfrm>
          <a:prstGeom prst="rect">
            <a:avLst/>
          </a:prstGeom>
          <a:noFill/>
        </p:spPr>
        <p:txBody>
          <a:bodyPr wrap="square" anchor="t">
            <a:spAutoFit/>
          </a:bodyPr>
          <a:lstStyle/>
          <a:p>
            <a:pPr algn="l">
              <a:lnSpc>
                <a:spcPct val="112000"/>
              </a:lnSpc>
              <a:spcAft>
                <a:spcPts val="1100"/>
              </a:spcAft>
            </a:pPr>
            <a:r>
              <a:rPr sz="1700" b="1">
                <a:solidFill>
                  <a:srgbClr val="1A1F2B"/>
                </a:solidFill>
                <a:latin typeface="Avenir Next"/>
              </a:rPr>
              <a:t>Nothing is ever edited.</a:t>
            </a:r>
            <a:r>
              <a:rPr sz="1700" b="0">
                <a:solidFill>
                  <a:srgbClr val="4A5568"/>
                </a:solidFill>
                <a:latin typeface="Avenir Next"/>
              </a:rPr>
              <a:t>  —  Every message, photo, note, import, and status change is an appended event. Corrections are new events — the history of the mistake is itself preserved.</a:t>
            </a:r>
          </a:p>
          <a:p>
            <a:pPr algn="l">
              <a:lnSpc>
                <a:spcPct val="112000"/>
              </a:lnSpc>
              <a:spcAft>
                <a:spcPts val="1100"/>
              </a:spcAft>
            </a:pPr>
            <a:r>
              <a:rPr sz="1700" b="1">
                <a:solidFill>
                  <a:srgbClr val="1A1F2B"/>
                </a:solidFill>
                <a:latin typeface="Avenir Next"/>
              </a:rPr>
              <a:t>Each event is sealed to all history before it.</a:t>
            </a:r>
            <a:r>
              <a:rPr sz="1700" b="0">
                <a:solidFill>
                  <a:srgbClr val="4A5568"/>
                </a:solidFill>
                <a:latin typeface="Avenir Next"/>
              </a:rPr>
              <a:t>  —  A cryptographic chain: altering any past record visibly breaks every seal after it. Tampering isn't prevented — it's unhideable.</a:t>
            </a:r>
          </a:p>
          <a:p>
            <a:pPr algn="l">
              <a:lnSpc>
                <a:spcPct val="112000"/>
              </a:lnSpc>
              <a:spcAft>
                <a:spcPts val="1100"/>
              </a:spcAft>
            </a:pPr>
            <a:r>
              <a:rPr sz="1700" b="1">
                <a:solidFill>
                  <a:srgbClr val="1A1F2B"/>
                </a:solidFill>
                <a:latin typeface="Avenir Next"/>
              </a:rPr>
              <a:t>Every change-order line cites its evidence.</a:t>
            </a:r>
            <a:r>
              <a:rPr sz="1700" b="0">
                <a:solidFill>
                  <a:srgbClr val="4A5568"/>
                </a:solidFill>
                <a:latin typeface="Avenir Next"/>
              </a:rPr>
              <a:t>  —  Line → evidence events → original photo/receipt/note, walkable in the audit view in seconds.</a:t>
            </a:r>
          </a:p>
          <a:p>
            <a:pPr algn="l">
              <a:lnSpc>
                <a:spcPct val="112000"/>
              </a:lnSpc>
              <a:spcAft>
                <a:spcPts val="1100"/>
              </a:spcAft>
            </a:pPr>
            <a:r>
              <a:rPr sz="1700" b="1">
                <a:solidFill>
                  <a:srgbClr val="1A1F2B"/>
                </a:solidFill>
                <a:latin typeface="Avenir Next"/>
              </a:rPr>
              <a:t>Even the AI is on the record.</a:t>
            </a:r>
            <a:r>
              <a:rPr sz="1700" b="0">
                <a:solidFill>
                  <a:srgbClr val="4A5568"/>
                </a:solidFill>
                <a:latin typeface="Avenir Next"/>
              </a:rPr>
              <a:t>  —  Every drafting call's full input and output is fingerprinted and filed — you can prove what the model was shown and what it said.</a:t>
            </a:r>
          </a:p>
        </p:txBody>
      </p:sp>
      <p:sp>
        <p:nvSpPr>
          <p:cNvPr id="7" name="Rounded Rectangle 6"/>
          <p:cNvSpPr/>
          <p:nvPr/>
        </p:nvSpPr>
        <p:spPr>
          <a:xfrm>
            <a:off x="502920" y="5257800"/>
            <a:ext cx="11155680" cy="1051560"/>
          </a:xfrm>
          <a:prstGeom prst="roundRect">
            <a:avLst>
              <a:gd name="adj" fmla="val 10000"/>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440680"/>
            <a:ext cx="10607040" cy="731520"/>
          </a:xfrm>
          <a:prstGeom prst="rect">
            <a:avLst/>
          </a:prstGeom>
          <a:noFill/>
        </p:spPr>
        <p:txBody>
          <a:bodyPr wrap="square" anchor="t">
            <a:spAutoFit/>
          </a:bodyPr>
          <a:lstStyle/>
          <a:p>
            <a:pPr algn="l">
              <a:lnSpc>
                <a:spcPct val="106000"/>
              </a:lnSpc>
              <a:spcAft>
                <a:spcPts val="600"/>
              </a:spcAft>
            </a:pPr>
            <a:r>
              <a:rPr sz="1600" b="1">
                <a:solidFill>
                  <a:srgbClr val="1A1F2B"/>
                </a:solidFill>
                <a:latin typeface="Avenir Next"/>
              </a:rPr>
              <a:t>The dispute drill:  </a:t>
            </a:r>
            <a:r>
              <a:rPr sz="1600" b="0">
                <a:solidFill>
                  <a:srgbClr val="4A5568"/>
                </a:solidFill>
                <a:latin typeface="Avenir Next"/>
              </a:rPr>
              <a:t>pick any dollar on any change order and walk it back — line → math → evidence → artifact → the moment it arrived from the field. That walk is the product.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MEMORY DESIGN</a:t>
            </a:r>
          </a:p>
        </p:txBody>
      </p:sp>
      <p:sp>
        <p:nvSpPr>
          <p:cNvPr id="4" name="Rounded Rectangle 3"/>
          <p:cNvSpPr/>
          <p:nvPr/>
        </p:nvSpPr>
        <p:spPr>
          <a:xfrm>
            <a:off x="8899855" y="566928"/>
            <a:ext cx="2788920" cy="475488"/>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latin typeface="Avenir Next"/>
              </a:rPr>
              <a:t>AGENTIC ENGINEERING · LESSON 4</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Context is a budget — spend it like one</a:t>
            </a:r>
          </a:p>
        </p:txBody>
      </p:sp>
      <p:sp>
        <p:nvSpPr>
          <p:cNvPr id="6" name="TextBox 5"/>
          <p:cNvSpPr txBox="1"/>
          <p:nvPr/>
        </p:nvSpPr>
        <p:spPr>
          <a:xfrm>
            <a:off x="502920" y="1572768"/>
            <a:ext cx="11155680" cy="548640"/>
          </a:xfrm>
          <a:prstGeom prst="rect">
            <a:avLst/>
          </a:prstGeom>
          <a:noFill/>
        </p:spPr>
        <p:txBody>
          <a:bodyPr wrap="square" anchor="t">
            <a:spAutoFit/>
          </a:bodyPr>
          <a:lstStyle/>
          <a:p>
            <a:pPr algn="l">
              <a:lnSpc>
                <a:spcPct val="106000"/>
              </a:lnSpc>
              <a:spcAft>
                <a:spcPts val="600"/>
              </a:spcAft>
            </a:pPr>
            <a:r>
              <a:rPr sz="1700" b="0">
                <a:solidFill>
                  <a:srgbClr val="4A5568"/>
                </a:solidFill>
                <a:latin typeface="Avenir Next"/>
              </a:rPr>
              <a:t>A model's working memory is finite and metered. Agent design is largely deciding what it re-reads every turn.</a:t>
            </a:r>
          </a:p>
        </p:txBody>
      </p:sp>
      <p:sp>
        <p:nvSpPr>
          <p:cNvPr id="7" name="TextBox 6"/>
          <p:cNvSpPr txBox="1"/>
          <p:nvPr/>
        </p:nvSpPr>
        <p:spPr>
          <a:xfrm>
            <a:off x="502920" y="2286000"/>
            <a:ext cx="11155680" cy="4206240"/>
          </a:xfrm>
          <a:prstGeom prst="rect">
            <a:avLst/>
          </a:prstGeom>
          <a:noFill/>
        </p:spPr>
        <p:txBody>
          <a:bodyPr wrap="square" anchor="t">
            <a:spAutoFit/>
          </a:bodyPr>
          <a:lstStyle/>
          <a:p>
            <a:pPr algn="l">
              <a:lnSpc>
                <a:spcPct val="112000"/>
              </a:lnSpc>
              <a:spcAft>
                <a:spcPts val="1100"/>
              </a:spcAft>
            </a:pPr>
            <a:r>
              <a:rPr sz="1700" b="1">
                <a:solidFill>
                  <a:srgbClr val="1A1F2B"/>
                </a:solidFill>
                <a:latin typeface="Avenir Next"/>
              </a:rPr>
              <a:t>Heavy media never rides along.</a:t>
            </a:r>
            <a:r>
              <a:rPr sz="1700" b="0">
                <a:solidFill>
                  <a:srgbClr val="4A5568"/>
                </a:solidFill>
                <a:latin typeface="Avenir Next"/>
              </a:rPr>
              <a:t>  —  A 4 MB photo is seen once at ingestion, then becomes a 60-character summary — “[photo art-7: cracked slab, garage bay 3]” — in all future turns.</a:t>
            </a:r>
          </a:p>
          <a:p>
            <a:pPr algn="l">
              <a:lnSpc>
                <a:spcPct val="112000"/>
              </a:lnSpc>
              <a:spcAft>
                <a:spcPts val="1100"/>
              </a:spcAft>
            </a:pPr>
            <a:r>
              <a:rPr sz="1700" b="1">
                <a:solidFill>
                  <a:srgbClr val="1A1F2B"/>
                </a:solidFill>
                <a:latin typeface="Avenir Next"/>
              </a:rPr>
              <a:t>The stable part is cached.</a:t>
            </a:r>
            <a:r>
              <a:rPr sz="1700" b="0">
                <a:solidFill>
                  <a:srgbClr val="4A5568"/>
                </a:solidFill>
                <a:latin typeface="Avenir Next"/>
              </a:rPr>
              <a:t>  —  The agent's construction-domain briefing never changes, so it's cached at the provider and re-read nearly free; volatile facts (date, active project) travel separately.</a:t>
            </a:r>
          </a:p>
          <a:p>
            <a:pPr algn="l">
              <a:lnSpc>
                <a:spcPct val="112000"/>
              </a:lnSpc>
              <a:spcAft>
                <a:spcPts val="1100"/>
              </a:spcAft>
            </a:pPr>
            <a:r>
              <a:rPr sz="1700" b="1">
                <a:solidFill>
                  <a:srgbClr val="1A1F2B"/>
                </a:solidFill>
                <a:latin typeface="Avenir Next"/>
              </a:rPr>
              <a:t>Knowledge lives in the database, not the conversation.</a:t>
            </a:r>
            <a:r>
              <a:rPr sz="1700" b="0">
                <a:solidFill>
                  <a:srgbClr val="4A5568"/>
                </a:solidFill>
                <a:latin typeface="Avenir Next"/>
              </a:rPr>
              <a:t>  —  The agent doesn't “remember” the estimate — it looks it up with a tool when asked, so answers stay current and context stays small.</a:t>
            </a:r>
          </a:p>
          <a:p>
            <a:pPr algn="l">
              <a:lnSpc>
                <a:spcPct val="112000"/>
              </a:lnSpc>
              <a:spcAft>
                <a:spcPts val="1100"/>
              </a:spcAft>
            </a:pPr>
            <a:r>
              <a:rPr sz="1700" b="1">
                <a:solidFill>
                  <a:srgbClr val="1A1F2B"/>
                </a:solidFill>
                <a:latin typeface="Avenir Next"/>
              </a:rPr>
              <a:t>Reasoning depth is dialed per task.</a:t>
            </a:r>
            <a:r>
              <a:rPr sz="1700" b="0">
                <a:solidFill>
                  <a:srgbClr val="4A5568"/>
                </a:solidFill>
                <a:latin typeface="Avenir Next"/>
              </a:rPr>
              <a:t>  —  Chat answers: fast/low effort. Money drafting: slow/high effort. Same model, deliberately different spend.</a:t>
            </a:r>
          </a:p>
        </p:txBody>
      </p:sp>
      <p:sp>
        <p:nvSpPr>
          <p:cNvPr id="8" name="Rounded Rectangle 7"/>
          <p:cNvSpPr/>
          <p:nvPr/>
        </p:nvSpPr>
        <p:spPr>
          <a:xfrm>
            <a:off x="502920" y="5394960"/>
            <a:ext cx="11155680" cy="914400"/>
          </a:xfrm>
          <a:prstGeom prst="roundRect">
            <a:avLst>
              <a:gd name="adj" fmla="val 10000"/>
            </a:avLst>
          </a:prstGeom>
          <a:solidFill>
            <a:srgbClr val="F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559552"/>
            <a:ext cx="10607040" cy="64008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Why executives should care:  </a:t>
            </a:r>
            <a:r>
              <a:rPr sz="1550" b="0">
                <a:solidFill>
                  <a:srgbClr val="4A5568"/>
                </a:solidFill>
                <a:latin typeface="Avenir Next"/>
              </a:rPr>
              <a:t>these choices are the unit economics. They're why per-conversation cost stays flat as projects grow.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UNDER THE HOOD</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10</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Deliberately boring architecture — the novelty is only where it pays</a:t>
            </a:r>
          </a:p>
        </p:txBody>
      </p:sp>
      <p:sp>
        <p:nvSpPr>
          <p:cNvPr id="6" name="Rounded Rectangle 5"/>
          <p:cNvSpPr/>
          <p:nvPr/>
        </p:nvSpPr>
        <p:spPr>
          <a:xfrm>
            <a:off x="502920" y="2103120"/>
            <a:ext cx="2926080" cy="105156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ONE SERVICE</a:t>
            </a:r>
          </a:p>
          <a:p>
            <a:pPr algn="ctr">
              <a:lnSpc>
                <a:spcPct val="100000"/>
              </a:lnSpc>
            </a:pPr>
            <a:r>
              <a:rPr sz="1100">
                <a:solidFill>
                  <a:srgbClr val="4A5568"/>
                </a:solidFill>
                <a:latin typeface="Avenir Next"/>
              </a:rPr>
              <a:t>Node/TypeScript · Express
both channels + audit view</a:t>
            </a:r>
          </a:p>
        </p:txBody>
      </p:sp>
      <p:sp>
        <p:nvSpPr>
          <p:cNvPr id="7" name="Rounded Rectangle 6"/>
          <p:cNvSpPr/>
          <p:nvPr/>
        </p:nvSpPr>
        <p:spPr>
          <a:xfrm>
            <a:off x="3703320" y="2103120"/>
            <a:ext cx="2926080" cy="105156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POSTGRES</a:t>
            </a:r>
          </a:p>
          <a:p>
            <a:pPr algn="ctr">
              <a:lnSpc>
                <a:spcPct val="100000"/>
              </a:lnSpc>
            </a:pPr>
            <a:r>
              <a:rPr sz="1100">
                <a:solidFill>
                  <a:srgbClr val="4A5568"/>
                </a:solidFill>
                <a:latin typeface="Avenir Next"/>
              </a:rPr>
              <a:t>ledger · estimates · COs
chat history</a:t>
            </a:r>
          </a:p>
        </p:txBody>
      </p:sp>
      <p:sp>
        <p:nvSpPr>
          <p:cNvPr id="8" name="Rounded Rectangle 7"/>
          <p:cNvSpPr/>
          <p:nvPr/>
        </p:nvSpPr>
        <p:spPr>
          <a:xfrm>
            <a:off x="6903720" y="2103120"/>
            <a:ext cx="2377440" cy="105156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OBJECT STORE</a:t>
            </a:r>
          </a:p>
          <a:p>
            <a:pPr algn="ctr">
              <a:lnSpc>
                <a:spcPct val="100000"/>
              </a:lnSpc>
            </a:pPr>
            <a:r>
              <a:rPr sz="1100">
                <a:solidFill>
                  <a:srgbClr val="4A5568"/>
                </a:solidFill>
                <a:latin typeface="Avenir Next"/>
              </a:rPr>
              <a:t>photos &amp; documents
content-addressed</a:t>
            </a:r>
          </a:p>
        </p:txBody>
      </p:sp>
      <p:sp>
        <p:nvSpPr>
          <p:cNvPr id="9" name="Rounded Rectangle 8"/>
          <p:cNvSpPr/>
          <p:nvPr/>
        </p:nvSpPr>
        <p:spPr>
          <a:xfrm>
            <a:off x="9555480" y="2103120"/>
            <a:ext cx="2148840" cy="1051560"/>
          </a:xfrm>
          <a:prstGeom prst="roundRect">
            <a:avLst>
              <a:gd name="adj" fmla="val 14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lnSpc>
                <a:spcPct val="100000"/>
              </a:lnSpc>
            </a:pPr>
            <a:r>
              <a:rPr sz="1400" b="1">
                <a:solidFill>
                  <a:srgbClr val="1A1F2B"/>
                </a:solidFill>
                <a:latin typeface="Avenir Next"/>
              </a:rPr>
              <a:t>CLAUDE API</a:t>
            </a:r>
          </a:p>
          <a:p>
            <a:pPr algn="ctr">
              <a:lnSpc>
                <a:spcPct val="100000"/>
              </a:lnSpc>
            </a:pPr>
            <a:r>
              <a:rPr sz="1100">
                <a:solidFill>
                  <a:srgbClr val="4A5568"/>
                </a:solidFill>
                <a:latin typeface="Avenir Next"/>
              </a:rPr>
              <a:t>Opus 5
no fine-tuning</a:t>
            </a:r>
          </a:p>
        </p:txBody>
      </p:sp>
      <p:sp>
        <p:nvSpPr>
          <p:cNvPr id="10" name="TextBox 9"/>
          <p:cNvSpPr txBox="1"/>
          <p:nvPr/>
        </p:nvSpPr>
        <p:spPr>
          <a:xfrm>
            <a:off x="502920" y="3474720"/>
            <a:ext cx="11155680" cy="3246120"/>
          </a:xfrm>
          <a:prstGeom prst="rect">
            <a:avLst/>
          </a:prstGeom>
          <a:noFill/>
        </p:spPr>
        <p:txBody>
          <a:bodyPr wrap="square" anchor="t">
            <a:spAutoFit/>
          </a:bodyPr>
          <a:lstStyle/>
          <a:p>
            <a:pPr algn="l">
              <a:lnSpc>
                <a:spcPct val="112000"/>
              </a:lnSpc>
              <a:spcAft>
                <a:spcPts val="900"/>
              </a:spcAft>
            </a:pPr>
            <a:r>
              <a:rPr sz="1550" b="1">
                <a:solidFill>
                  <a:srgbClr val="1A1F2B"/>
                </a:solidFill>
                <a:latin typeface="Avenir Next"/>
              </a:rPr>
              <a:t>No queues, no microservices, no orchestration layer.</a:t>
            </a:r>
            <a:r>
              <a:rPr sz="1550" b="0">
                <a:solidFill>
                  <a:srgbClr val="4A5568"/>
                </a:solidFill>
                <a:latin typeface="Avenir Next"/>
              </a:rPr>
              <a:t>  —  One process, one database, one blob store. Fewer moving parts = fewer 2 a.m. failure modes for a small team.</a:t>
            </a:r>
          </a:p>
          <a:p>
            <a:pPr algn="l">
              <a:lnSpc>
                <a:spcPct val="112000"/>
              </a:lnSpc>
              <a:spcAft>
                <a:spcPts val="900"/>
              </a:spcAft>
            </a:pPr>
            <a:r>
              <a:rPr sz="1550" b="1">
                <a:solidFill>
                  <a:srgbClr val="1A1F2B"/>
                </a:solidFill>
                <a:latin typeface="Avenir Next"/>
              </a:rPr>
              <a:t>Every dependency is optional and degrades gracefully.</a:t>
            </a:r>
            <a:r>
              <a:rPr sz="1550" b="0">
                <a:solidFill>
                  <a:srgbClr val="4A5568"/>
                </a:solidFill>
                <a:latin typeface="Avenir Next"/>
              </a:rPr>
              <a:t>  —  Without a database it runs in memory; without blob storage it declines files politely; without an API key it still answers with a canned greeting. The same property that makes tests run offline.</a:t>
            </a:r>
          </a:p>
          <a:p>
            <a:pPr algn="l">
              <a:lnSpc>
                <a:spcPct val="112000"/>
              </a:lnSpc>
              <a:spcAft>
                <a:spcPts val="900"/>
              </a:spcAft>
            </a:pPr>
            <a:r>
              <a:rPr sz="1550" b="1">
                <a:solidFill>
                  <a:srgbClr val="1A1F2B"/>
                </a:solidFill>
                <a:latin typeface="Avenir Next"/>
              </a:rPr>
              <a:t>No fine-tuning, no custom models.</a:t>
            </a:r>
            <a:r>
              <a:rPr sz="1550" b="0">
                <a:solidFill>
                  <a:srgbClr val="4A5568"/>
                </a:solidFill>
                <a:latin typeface="Avenir Next"/>
              </a:rPr>
              <a:t>  —  All domain knowledge is in the prompt, the tools, and the schema — inspectable, versioned in git, changeable in an afternoon.</a:t>
            </a:r>
          </a:p>
          <a:p>
            <a:pPr algn="l">
              <a:lnSpc>
                <a:spcPct val="112000"/>
              </a:lnSpc>
              <a:spcAft>
                <a:spcPts val="900"/>
              </a:spcAft>
            </a:pPr>
            <a:r>
              <a:rPr sz="1550" b="1">
                <a:solidFill>
                  <a:srgbClr val="1A1F2B"/>
                </a:solidFill>
                <a:latin typeface="Avenir Next"/>
              </a:rPr>
              <a:t>Verified continuously.</a:t>
            </a:r>
            <a:r>
              <a:rPr sz="1550" b="0">
                <a:solidFill>
                  <a:srgbClr val="4A5568"/>
                </a:solidFill>
                <a:latin typeface="Avenir Next"/>
              </a:rPr>
              <a:t>  —  57 automated tests run with zero network access; the live path is exercised over a real Telegram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GOVERNANCE</a:t>
            </a:r>
          </a:p>
        </p:txBody>
      </p:sp>
      <p:sp>
        <p:nvSpPr>
          <p:cNvPr id="4" name="Rounded Rectangle 3"/>
          <p:cNvSpPr/>
          <p:nvPr/>
        </p:nvSpPr>
        <p:spPr>
          <a:xfrm>
            <a:off x="8899855" y="566928"/>
            <a:ext cx="2788920" cy="475488"/>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latin typeface="Avenir Next"/>
              </a:rPr>
              <a:t>AGENTIC ENGINEERING · LESSON 5</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Autonomy is granted per action, not per agent</a:t>
            </a:r>
          </a:p>
        </p:txBody>
      </p:sp>
      <p:sp>
        <p:nvSpPr>
          <p:cNvPr id="6" name="TextBox 5"/>
          <p:cNvSpPr txBox="1"/>
          <p:nvPr/>
        </p:nvSpPr>
        <p:spPr>
          <a:xfrm>
            <a:off x="502920" y="1572768"/>
            <a:ext cx="11155680" cy="548640"/>
          </a:xfrm>
          <a:prstGeom prst="rect">
            <a:avLst/>
          </a:prstGeom>
          <a:noFill/>
        </p:spPr>
        <p:txBody>
          <a:bodyPr wrap="square" anchor="t">
            <a:spAutoFit/>
          </a:bodyPr>
          <a:lstStyle/>
          <a:p>
            <a:pPr algn="l">
              <a:lnSpc>
                <a:spcPct val="106000"/>
              </a:lnSpc>
              <a:spcAft>
                <a:spcPts val="600"/>
              </a:spcAft>
            </a:pPr>
            <a:r>
              <a:rPr sz="1700" b="0">
                <a:solidFill>
                  <a:srgbClr val="4A5568"/>
                </a:solidFill>
                <a:latin typeface="Avenir Next"/>
              </a:rPr>
              <a:t>The useful question is never “do we trust the AI?” — it's “which specific actions may it take alone?”</a:t>
            </a:r>
          </a:p>
        </p:txBody>
      </p:sp>
      <p:sp>
        <p:nvSpPr>
          <p:cNvPr id="7" name="Rounded Rectangle 6"/>
          <p:cNvSpPr/>
          <p:nvPr/>
        </p:nvSpPr>
        <p:spPr>
          <a:xfrm>
            <a:off x="502920" y="2331720"/>
            <a:ext cx="11155680" cy="713232"/>
          </a:xfrm>
          <a:prstGeom prst="roundRect">
            <a:avLst>
              <a:gd name="adj" fmla="val 12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78024"/>
            <a:ext cx="3291840" cy="45720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File a photo, log a note</a:t>
            </a:r>
          </a:p>
        </p:txBody>
      </p:sp>
      <p:sp>
        <p:nvSpPr>
          <p:cNvPr id="9" name="TextBox 8"/>
          <p:cNvSpPr txBox="1"/>
          <p:nvPr/>
        </p:nvSpPr>
        <p:spPr>
          <a:xfrm>
            <a:off x="4206240" y="2478024"/>
            <a:ext cx="2651760" cy="457200"/>
          </a:xfrm>
          <a:prstGeom prst="rect">
            <a:avLst/>
          </a:prstGeom>
          <a:noFill/>
        </p:spPr>
        <p:txBody>
          <a:bodyPr wrap="square" anchor="t">
            <a:spAutoFit/>
          </a:bodyPr>
          <a:lstStyle/>
          <a:p>
            <a:pPr algn="l">
              <a:lnSpc>
                <a:spcPct val="106000"/>
              </a:lnSpc>
              <a:spcAft>
                <a:spcPts val="600"/>
              </a:spcAft>
            </a:pPr>
            <a:r>
              <a:rPr sz="1350" b="1">
                <a:solidFill>
                  <a:srgbClr val="1E7A3C"/>
                </a:solidFill>
                <a:latin typeface="Avenir Next"/>
              </a:rPr>
              <a:t>AUTONOMOUS</a:t>
            </a:r>
          </a:p>
        </p:txBody>
      </p:sp>
      <p:sp>
        <p:nvSpPr>
          <p:cNvPr id="10" name="TextBox 9"/>
          <p:cNvSpPr txBox="1"/>
          <p:nvPr/>
        </p:nvSpPr>
        <p:spPr>
          <a:xfrm>
            <a:off x="6949440" y="2478024"/>
            <a:ext cx="4572000" cy="457200"/>
          </a:xfrm>
          <a:prstGeom prst="rect">
            <a:avLst/>
          </a:prstGeom>
          <a:noFill/>
        </p:spPr>
        <p:txBody>
          <a:bodyPr wrap="square" anchor="t">
            <a:spAutoFit/>
          </a:bodyPr>
          <a:lstStyle/>
          <a:p>
            <a:pPr algn="l">
              <a:lnSpc>
                <a:spcPct val="106000"/>
              </a:lnSpc>
              <a:spcAft>
                <a:spcPts val="600"/>
              </a:spcAft>
            </a:pPr>
            <a:r>
              <a:rPr sz="1300" b="0">
                <a:solidFill>
                  <a:srgbClr val="4A5568"/>
                </a:solidFill>
                <a:latin typeface="Avenir Next"/>
              </a:rPr>
              <a:t>reversible by a later event; ledger records everything</a:t>
            </a:r>
          </a:p>
        </p:txBody>
      </p:sp>
      <p:sp>
        <p:nvSpPr>
          <p:cNvPr id="11" name="Rounded Rectangle 10"/>
          <p:cNvSpPr/>
          <p:nvPr/>
        </p:nvSpPr>
        <p:spPr>
          <a:xfrm>
            <a:off x="502920" y="3172968"/>
            <a:ext cx="11155680" cy="713232"/>
          </a:xfrm>
          <a:prstGeom prst="roundRect">
            <a:avLst>
              <a:gd name="adj" fmla="val 12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19272"/>
            <a:ext cx="3291840" cy="45720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Import an estimate</a:t>
            </a:r>
          </a:p>
        </p:txBody>
      </p:sp>
      <p:sp>
        <p:nvSpPr>
          <p:cNvPr id="13" name="TextBox 12"/>
          <p:cNvSpPr txBox="1"/>
          <p:nvPr/>
        </p:nvSpPr>
        <p:spPr>
          <a:xfrm>
            <a:off x="4206240" y="3319272"/>
            <a:ext cx="2651760" cy="457200"/>
          </a:xfrm>
          <a:prstGeom prst="rect">
            <a:avLst/>
          </a:prstGeom>
          <a:noFill/>
        </p:spPr>
        <p:txBody>
          <a:bodyPr wrap="square" anchor="t">
            <a:spAutoFit/>
          </a:bodyPr>
          <a:lstStyle/>
          <a:p>
            <a:pPr algn="l">
              <a:lnSpc>
                <a:spcPct val="106000"/>
              </a:lnSpc>
              <a:spcAft>
                <a:spcPts val="600"/>
              </a:spcAft>
            </a:pPr>
            <a:r>
              <a:rPr sz="1350" b="1">
                <a:solidFill>
                  <a:srgbClr val="B54E08"/>
                </a:solidFill>
                <a:latin typeface="Avenir Next"/>
              </a:rPr>
              <a:t>CONFIRM FIRST</a:t>
            </a:r>
          </a:p>
        </p:txBody>
      </p:sp>
      <p:sp>
        <p:nvSpPr>
          <p:cNvPr id="14" name="TextBox 13"/>
          <p:cNvSpPr txBox="1"/>
          <p:nvPr/>
        </p:nvSpPr>
        <p:spPr>
          <a:xfrm>
            <a:off x="6949440" y="3319272"/>
            <a:ext cx="4572000" cy="457200"/>
          </a:xfrm>
          <a:prstGeom prst="rect">
            <a:avLst/>
          </a:prstGeom>
          <a:noFill/>
        </p:spPr>
        <p:txBody>
          <a:bodyPr wrap="square" anchor="t">
            <a:spAutoFit/>
          </a:bodyPr>
          <a:lstStyle/>
          <a:p>
            <a:pPr algn="l">
              <a:lnSpc>
                <a:spcPct val="106000"/>
              </a:lnSpc>
              <a:spcAft>
                <a:spcPts val="600"/>
              </a:spcAft>
            </a:pPr>
            <a:r>
              <a:rPr sz="1300" b="0">
                <a:solidFill>
                  <a:srgbClr val="4A5568"/>
                </a:solidFill>
                <a:latin typeface="Avenir Next"/>
              </a:rPr>
              <a:t>shows count + total; commits only on the PM's yes</a:t>
            </a:r>
          </a:p>
        </p:txBody>
      </p:sp>
      <p:sp>
        <p:nvSpPr>
          <p:cNvPr id="15" name="Rounded Rectangle 14"/>
          <p:cNvSpPr/>
          <p:nvPr/>
        </p:nvSpPr>
        <p:spPr>
          <a:xfrm>
            <a:off x="502920" y="4014216"/>
            <a:ext cx="11155680" cy="713232"/>
          </a:xfrm>
          <a:prstGeom prst="roundRect">
            <a:avLst>
              <a:gd name="adj" fmla="val 12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60520"/>
            <a:ext cx="3291840" cy="45720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Draft a change order</a:t>
            </a:r>
          </a:p>
        </p:txBody>
      </p:sp>
      <p:sp>
        <p:nvSpPr>
          <p:cNvPr id="17" name="TextBox 16"/>
          <p:cNvSpPr txBox="1"/>
          <p:nvPr/>
        </p:nvSpPr>
        <p:spPr>
          <a:xfrm>
            <a:off x="4206240" y="4160520"/>
            <a:ext cx="2651760" cy="457200"/>
          </a:xfrm>
          <a:prstGeom prst="rect">
            <a:avLst/>
          </a:prstGeom>
          <a:noFill/>
        </p:spPr>
        <p:txBody>
          <a:bodyPr wrap="square" anchor="t">
            <a:spAutoFit/>
          </a:bodyPr>
          <a:lstStyle/>
          <a:p>
            <a:pPr algn="l">
              <a:lnSpc>
                <a:spcPct val="106000"/>
              </a:lnSpc>
              <a:spcAft>
                <a:spcPts val="600"/>
              </a:spcAft>
            </a:pPr>
            <a:r>
              <a:rPr sz="1350" b="1">
                <a:solidFill>
                  <a:srgbClr val="B54E08"/>
                </a:solidFill>
                <a:latin typeface="Avenir Next"/>
              </a:rPr>
              <a:t>AUTONOMOUS DRAFT</a:t>
            </a:r>
          </a:p>
        </p:txBody>
      </p:sp>
      <p:sp>
        <p:nvSpPr>
          <p:cNvPr id="18" name="TextBox 17"/>
          <p:cNvSpPr txBox="1"/>
          <p:nvPr/>
        </p:nvSpPr>
        <p:spPr>
          <a:xfrm>
            <a:off x="6949440" y="4160520"/>
            <a:ext cx="4572000" cy="457200"/>
          </a:xfrm>
          <a:prstGeom prst="rect">
            <a:avLst/>
          </a:prstGeom>
          <a:noFill/>
        </p:spPr>
        <p:txBody>
          <a:bodyPr wrap="square" anchor="t">
            <a:spAutoFit/>
          </a:bodyPr>
          <a:lstStyle/>
          <a:p>
            <a:pPr algn="l">
              <a:lnSpc>
                <a:spcPct val="106000"/>
              </a:lnSpc>
              <a:spcAft>
                <a:spcPts val="600"/>
              </a:spcAft>
            </a:pPr>
            <a:r>
              <a:rPr sz="1300" b="0">
                <a:solidFill>
                  <a:srgbClr val="4A5568"/>
                </a:solidFill>
                <a:latin typeface="Avenir Next"/>
              </a:rPr>
              <a:t>validated by code; lands as a draft, never as a decision</a:t>
            </a:r>
          </a:p>
        </p:txBody>
      </p:sp>
      <p:sp>
        <p:nvSpPr>
          <p:cNvPr id="19" name="Rounded Rectangle 18"/>
          <p:cNvSpPr/>
          <p:nvPr/>
        </p:nvSpPr>
        <p:spPr>
          <a:xfrm>
            <a:off x="502920" y="4855464"/>
            <a:ext cx="11155680" cy="713232"/>
          </a:xfrm>
          <a:prstGeom prst="roundRect">
            <a:avLst>
              <a:gd name="adj" fmla="val 12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001768"/>
            <a:ext cx="3291840" cy="45720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Approve a change order</a:t>
            </a:r>
          </a:p>
        </p:txBody>
      </p:sp>
      <p:sp>
        <p:nvSpPr>
          <p:cNvPr id="21" name="TextBox 20"/>
          <p:cNvSpPr txBox="1"/>
          <p:nvPr/>
        </p:nvSpPr>
        <p:spPr>
          <a:xfrm>
            <a:off x="4206240" y="5001768"/>
            <a:ext cx="2651760" cy="457200"/>
          </a:xfrm>
          <a:prstGeom prst="rect">
            <a:avLst/>
          </a:prstGeom>
          <a:noFill/>
        </p:spPr>
        <p:txBody>
          <a:bodyPr wrap="square" anchor="t">
            <a:spAutoFit/>
          </a:bodyPr>
          <a:lstStyle/>
          <a:p>
            <a:pPr algn="l">
              <a:lnSpc>
                <a:spcPct val="106000"/>
              </a:lnSpc>
              <a:spcAft>
                <a:spcPts val="600"/>
              </a:spcAft>
            </a:pPr>
            <a:r>
              <a:rPr sz="1350" b="1">
                <a:solidFill>
                  <a:srgbClr val="B40000"/>
                </a:solidFill>
                <a:latin typeface="Avenir Next"/>
              </a:rPr>
              <a:t>HUMAN ONLY</a:t>
            </a:r>
          </a:p>
        </p:txBody>
      </p:sp>
      <p:sp>
        <p:nvSpPr>
          <p:cNvPr id="22" name="TextBox 21"/>
          <p:cNvSpPr txBox="1"/>
          <p:nvPr/>
        </p:nvSpPr>
        <p:spPr>
          <a:xfrm>
            <a:off x="6949440" y="5001768"/>
            <a:ext cx="4572000" cy="457200"/>
          </a:xfrm>
          <a:prstGeom prst="rect">
            <a:avLst/>
          </a:prstGeom>
          <a:noFill/>
        </p:spPr>
        <p:txBody>
          <a:bodyPr wrap="square" anchor="t">
            <a:spAutoFit/>
          </a:bodyPr>
          <a:lstStyle/>
          <a:p>
            <a:pPr algn="l">
              <a:lnSpc>
                <a:spcPct val="106000"/>
              </a:lnSpc>
              <a:spcAft>
                <a:spcPts val="600"/>
              </a:spcAft>
            </a:pPr>
            <a:r>
              <a:rPr sz="1300" b="0">
                <a:solidFill>
                  <a:srgbClr val="4A5568"/>
                </a:solidFill>
                <a:latin typeface="Avenir Next"/>
              </a:rPr>
              <a:t>status can only move on explicit PM instruction</a:t>
            </a:r>
          </a:p>
        </p:txBody>
      </p:sp>
      <p:sp>
        <p:nvSpPr>
          <p:cNvPr id="23" name="TextBox 22"/>
          <p:cNvSpPr txBox="1"/>
          <p:nvPr/>
        </p:nvSpPr>
        <p:spPr>
          <a:xfrm>
            <a:off x="502920" y="5788152"/>
            <a:ext cx="11155680" cy="548640"/>
          </a:xfrm>
          <a:prstGeom prst="rect">
            <a:avLst/>
          </a:prstGeom>
          <a:noFill/>
        </p:spPr>
        <p:txBody>
          <a:bodyPr wrap="square" anchor="t">
            <a:spAutoFit/>
          </a:bodyPr>
          <a:lstStyle/>
          <a:p>
            <a:pPr algn="l">
              <a:lnSpc>
                <a:spcPct val="106000"/>
              </a:lnSpc>
              <a:spcAft>
                <a:spcPts val="600"/>
              </a:spcAft>
            </a:pPr>
            <a:r>
              <a:rPr sz="1550" b="1">
                <a:solidFill>
                  <a:srgbClr val="1A1F2B"/>
                </a:solidFill>
                <a:latin typeface="Avenir Next"/>
              </a:rPr>
              <a:t>The pattern:  </a:t>
            </a:r>
            <a:r>
              <a:rPr sz="1550" b="0">
                <a:solidFill>
                  <a:srgbClr val="4A5568"/>
                </a:solidFill>
                <a:latin typeface="Avenir Next"/>
              </a:rPr>
              <a:t>autonomy scales with reversibility. Anything append-only is safe to automate; anything contractual is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8229600" cy="365760"/>
          </a:xfrm>
          <a:prstGeom prst="rect">
            <a:avLst/>
          </a:prstGeom>
          <a:noFill/>
        </p:spPr>
        <p:txBody>
          <a:bodyPr wrap="square" anchor="t">
            <a:spAutoFit/>
          </a:bodyPr>
          <a:lstStyle/>
          <a:p>
            <a:pPr algn="l">
              <a:lnSpc>
                <a:spcPct val="106000"/>
              </a:lnSpc>
              <a:spcAft>
                <a:spcPts val="600"/>
              </a:spcAft>
            </a:pPr>
            <a:r>
              <a:rPr sz="1300" b="1">
                <a:solidFill>
                  <a:srgbClr val="B54E08"/>
                </a:solidFill>
                <a:latin typeface="Avenir Next"/>
              </a:rPr>
              <a:t>WHERE WE ARE</a:t>
            </a:r>
          </a:p>
        </p:txBody>
      </p:sp>
      <p:sp>
        <p:nvSpPr>
          <p:cNvPr id="4" name="TextBox 3"/>
          <p:cNvSpPr txBox="1"/>
          <p:nvPr/>
        </p:nvSpPr>
        <p:spPr>
          <a:xfrm>
            <a:off x="11094415" y="310896"/>
            <a:ext cx="640080" cy="365760"/>
          </a:xfrm>
          <a:prstGeom prst="rect">
            <a:avLst/>
          </a:prstGeom>
          <a:noFill/>
        </p:spPr>
        <p:txBody>
          <a:bodyPr wrap="square" anchor="t">
            <a:spAutoFit/>
          </a:bodyPr>
          <a:lstStyle/>
          <a:p>
            <a:pPr algn="r">
              <a:lnSpc>
                <a:spcPct val="106000"/>
              </a:lnSpc>
              <a:spcAft>
                <a:spcPts val="600"/>
              </a:spcAft>
            </a:pPr>
            <a:r>
              <a:rPr sz="1300" b="1">
                <a:solidFill>
                  <a:srgbClr val="D8D4CC"/>
                </a:solidFill>
                <a:latin typeface="Avenir Next"/>
              </a:rPr>
              <a:t>12</a:t>
            </a:r>
          </a:p>
        </p:txBody>
      </p:sp>
      <p:sp>
        <p:nvSpPr>
          <p:cNvPr id="5" name="TextBox 4"/>
          <p:cNvSpPr txBox="1"/>
          <p:nvPr/>
        </p:nvSpPr>
        <p:spPr>
          <a:xfrm>
            <a:off x="502920" y="658368"/>
            <a:ext cx="11155680" cy="914400"/>
          </a:xfrm>
          <a:prstGeom prst="rect">
            <a:avLst/>
          </a:prstGeom>
          <a:noFill/>
        </p:spPr>
        <p:txBody>
          <a:bodyPr wrap="square" anchor="t">
            <a:spAutoFit/>
          </a:bodyPr>
          <a:lstStyle/>
          <a:p>
            <a:pPr algn="l">
              <a:lnSpc>
                <a:spcPct val="102000"/>
              </a:lnSpc>
              <a:spcAft>
                <a:spcPts val="600"/>
              </a:spcAft>
            </a:pPr>
            <a:r>
              <a:rPr sz="3300" b="1">
                <a:solidFill>
                  <a:srgbClr val="1A1F2B"/>
                </a:solidFill>
                <a:latin typeface="Avenir Next"/>
              </a:rPr>
              <a:t>Working today; two steps from production</a:t>
            </a:r>
          </a:p>
        </p:txBody>
      </p:sp>
      <p:sp>
        <p:nvSpPr>
          <p:cNvPr id="6" name="Rounded Rectangle 5"/>
          <p:cNvSpPr/>
          <p:nvPr/>
        </p:nvSpPr>
        <p:spPr>
          <a:xfrm>
            <a:off x="502920" y="1828800"/>
            <a:ext cx="5440680" cy="3566160"/>
          </a:xfrm>
          <a:prstGeom prst="roundRect">
            <a:avLst>
              <a:gd name="adj" fmla="val 8000"/>
            </a:avLst>
          </a:prstGeom>
          <a:solidFill>
            <a:srgbClr val="E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937760" cy="457200"/>
          </a:xfrm>
          <a:prstGeom prst="rect">
            <a:avLst/>
          </a:prstGeom>
          <a:noFill/>
        </p:spPr>
        <p:txBody>
          <a:bodyPr wrap="square" anchor="t">
            <a:spAutoFit/>
          </a:bodyPr>
          <a:lstStyle/>
          <a:p>
            <a:pPr algn="l">
              <a:lnSpc>
                <a:spcPct val="106000"/>
              </a:lnSpc>
              <a:spcAft>
                <a:spcPts val="600"/>
              </a:spcAft>
            </a:pPr>
            <a:r>
              <a:rPr sz="1500" b="1">
                <a:solidFill>
                  <a:srgbClr val="1E7A3C"/>
                </a:solidFill>
                <a:latin typeface="Avenir Next"/>
              </a:rPr>
              <a:t>PROVEN, LIVE</a:t>
            </a:r>
          </a:p>
        </p:txBody>
      </p:sp>
      <p:sp>
        <p:nvSpPr>
          <p:cNvPr id="8" name="TextBox 7"/>
          <p:cNvSpPr txBox="1"/>
          <p:nvPr/>
        </p:nvSpPr>
        <p:spPr>
          <a:xfrm>
            <a:off x="777240" y="2514600"/>
            <a:ext cx="5029200" cy="4206240"/>
          </a:xfrm>
          <a:prstGeom prst="rect">
            <a:avLst/>
          </a:prstGeom>
          <a:noFill/>
        </p:spPr>
        <p:txBody>
          <a:bodyPr wrap="square" anchor="t">
            <a:spAutoFit/>
          </a:bodyPr>
          <a:lstStyle/>
          <a:p>
            <a:pPr algn="l">
              <a:lnSpc>
                <a:spcPct val="112000"/>
              </a:lnSpc>
              <a:spcAft>
                <a:spcPts val="800"/>
              </a:spcAft>
            </a:pPr>
            <a:r>
              <a:rPr sz="1400" b="1">
                <a:solidFill>
                  <a:srgbClr val="1A1F2B"/>
                </a:solidFill>
                <a:latin typeface="Avenir Next"/>
              </a:rPr>
              <a:t>End-to-end on a real Telegram number</a:t>
            </a:r>
            <a:r>
              <a:rPr sz="1400" b="0">
                <a:solidFill>
                  <a:srgbClr val="4A5568"/>
                </a:solidFill>
                <a:latin typeface="Avenir Next"/>
              </a:rPr>
              <a:t>  —  chat, project creation, notes — verified in production traffic</a:t>
            </a:r>
          </a:p>
          <a:p>
            <a:pPr algn="l">
              <a:lnSpc>
                <a:spcPct val="112000"/>
              </a:lnSpc>
              <a:spcAft>
                <a:spcPts val="800"/>
              </a:spcAft>
            </a:pPr>
            <a:r>
              <a:rPr sz="1400" b="1">
                <a:solidFill>
                  <a:srgbClr val="1A1F2B"/>
                </a:solidFill>
                <a:latin typeface="Avenir Next"/>
              </a:rPr>
              <a:t>Reconciliation against the live model</a:t>
            </a:r>
            <a:r>
              <a:rPr sz="1400" b="0">
                <a:solidFill>
                  <a:srgbClr val="4A5568"/>
                </a:solidFill>
                <a:latin typeface="Avenir Next"/>
              </a:rPr>
              <a:t>  —  the $180 example on slide 6, zero validation failures</a:t>
            </a:r>
          </a:p>
          <a:p>
            <a:pPr algn="l">
              <a:lnSpc>
                <a:spcPct val="112000"/>
              </a:lnSpc>
              <a:spcAft>
                <a:spcPts val="800"/>
              </a:spcAft>
            </a:pPr>
            <a:r>
              <a:rPr sz="1400" b="1">
                <a:solidFill>
                  <a:srgbClr val="1A1F2B"/>
                </a:solidFill>
                <a:latin typeface="Avenir Next"/>
              </a:rPr>
              <a:t>57 offline tests</a:t>
            </a:r>
            <a:r>
              <a:rPr sz="1400" b="0">
                <a:solidFill>
                  <a:srgbClr val="4A5568"/>
                </a:solidFill>
                <a:latin typeface="Avenir Next"/>
              </a:rPr>
              <a:t>  —  ledger chain, validators, parsers, audit view</a:t>
            </a:r>
          </a:p>
          <a:p>
            <a:pPr algn="l">
              <a:lnSpc>
                <a:spcPct val="112000"/>
              </a:lnSpc>
              <a:spcAft>
                <a:spcPts val="800"/>
              </a:spcAft>
            </a:pPr>
            <a:r>
              <a:rPr sz="1400" b="1">
                <a:solidFill>
                  <a:srgbClr val="1A1F2B"/>
                </a:solidFill>
                <a:latin typeface="Avenir Next"/>
              </a:rPr>
              <a:t>Full trace logging</a:t>
            </a:r>
            <a:r>
              <a:rPr sz="1400" b="0">
                <a:solidFill>
                  <a:srgbClr val="4A5568"/>
                </a:solidFill>
                <a:latin typeface="Avenir Next"/>
              </a:rPr>
              <a:t>  —  every message, tool call, and model call observable</a:t>
            </a:r>
          </a:p>
        </p:txBody>
      </p:sp>
      <p:sp>
        <p:nvSpPr>
          <p:cNvPr id="9" name="Rounded Rectangle 8"/>
          <p:cNvSpPr/>
          <p:nvPr/>
        </p:nvSpPr>
        <p:spPr>
          <a:xfrm>
            <a:off x="6263640" y="1828800"/>
            <a:ext cx="5440680" cy="3566160"/>
          </a:xfrm>
          <a:prstGeom prst="roundRect">
            <a:avLst>
              <a:gd name="adj" fmla="val 8000"/>
            </a:avLst>
          </a:prstGeom>
          <a:solidFill>
            <a:srgbClr val="FAF8F5"/>
          </a:solidFill>
          <a:ln w="12700">
            <a:solidFill>
              <a:srgbClr val="D8D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937760" cy="457200"/>
          </a:xfrm>
          <a:prstGeom prst="rect">
            <a:avLst/>
          </a:prstGeom>
          <a:noFill/>
        </p:spPr>
        <p:txBody>
          <a:bodyPr wrap="square" anchor="t">
            <a:spAutoFit/>
          </a:bodyPr>
          <a:lstStyle/>
          <a:p>
            <a:pPr algn="l">
              <a:lnSpc>
                <a:spcPct val="106000"/>
              </a:lnSpc>
              <a:spcAft>
                <a:spcPts val="600"/>
              </a:spcAft>
            </a:pPr>
            <a:r>
              <a:rPr sz="1500" b="1">
                <a:solidFill>
                  <a:srgbClr val="1A1F2B"/>
                </a:solidFill>
                <a:latin typeface="Avenir Next"/>
              </a:rPr>
              <a:t>NEXT</a:t>
            </a:r>
          </a:p>
        </p:txBody>
      </p:sp>
      <p:sp>
        <p:nvSpPr>
          <p:cNvPr id="11" name="TextBox 10"/>
          <p:cNvSpPr txBox="1"/>
          <p:nvPr/>
        </p:nvSpPr>
        <p:spPr>
          <a:xfrm>
            <a:off x="6537960" y="2514600"/>
            <a:ext cx="5029200" cy="4206240"/>
          </a:xfrm>
          <a:prstGeom prst="rect">
            <a:avLst/>
          </a:prstGeom>
          <a:noFill/>
        </p:spPr>
        <p:txBody>
          <a:bodyPr wrap="square" anchor="t">
            <a:spAutoFit/>
          </a:bodyPr>
          <a:lstStyle/>
          <a:p>
            <a:pPr algn="l">
              <a:lnSpc>
                <a:spcPct val="112000"/>
              </a:lnSpc>
              <a:spcAft>
                <a:spcPts val="800"/>
              </a:spcAft>
            </a:pPr>
            <a:r>
              <a:rPr sz="1400" b="1">
                <a:solidFill>
                  <a:srgbClr val="1A1F2B"/>
                </a:solidFill>
                <a:latin typeface="Avenir Next"/>
              </a:rPr>
              <a:t>Deploy to managed cloud</a:t>
            </a:r>
            <a:r>
              <a:rPr sz="1400" b="0">
                <a:solidFill>
                  <a:srgbClr val="4A5568"/>
                </a:solidFill>
                <a:latin typeface="Avenir Next"/>
              </a:rPr>
              <a:t>  —  Postgres + object storage; ~an hour of work, small monthly cost</a:t>
            </a:r>
          </a:p>
          <a:p>
            <a:pPr algn="l">
              <a:lnSpc>
                <a:spcPct val="112000"/>
              </a:lnSpc>
              <a:spcAft>
                <a:spcPts val="800"/>
              </a:spcAft>
            </a:pPr>
            <a:r>
              <a:rPr sz="1400" b="1">
                <a:solidFill>
                  <a:srgbClr val="1A1F2B"/>
                </a:solidFill>
                <a:latin typeface="Avenir Next"/>
              </a:rPr>
              <a:t>Light up the WhatsApp number</a:t>
            </a:r>
            <a:r>
              <a:rPr sz="1400" b="0">
                <a:solidFill>
                  <a:srgbClr val="4A5568"/>
                </a:solidFill>
                <a:latin typeface="Avenir Next"/>
              </a:rPr>
              <a:t>  —  wiring is scripted; awaiting one Meta access token</a:t>
            </a:r>
          </a:p>
          <a:p>
            <a:pPr algn="l">
              <a:lnSpc>
                <a:spcPct val="112000"/>
              </a:lnSpc>
              <a:spcAft>
                <a:spcPts val="800"/>
              </a:spcAft>
            </a:pPr>
            <a:r>
              <a:rPr sz="1400" b="1">
                <a:solidFill>
                  <a:srgbClr val="1A1F2B"/>
                </a:solidFill>
                <a:latin typeface="Avenir Next"/>
              </a:rPr>
              <a:t>Pilot on one real project</a:t>
            </a:r>
            <a:r>
              <a:rPr sz="1400" b="0">
                <a:solidFill>
                  <a:srgbClr val="4A5568"/>
                </a:solidFill>
                <a:latin typeface="Avenir Next"/>
              </a:rPr>
              <a:t>  —  one PM, one estimate, live change orders</a:t>
            </a:r>
          </a:p>
          <a:p>
            <a:pPr algn="l">
              <a:lnSpc>
                <a:spcPct val="112000"/>
              </a:lnSpc>
              <a:spcAft>
                <a:spcPts val="800"/>
              </a:spcAft>
            </a:pPr>
            <a:r>
              <a:rPr sz="1400" b="1">
                <a:solidFill>
                  <a:srgbClr val="1A1F2B"/>
                </a:solidFill>
                <a:latin typeface="Avenir Next"/>
              </a:rPr>
              <a:t>Then: owner/sub views, notarized chain head, AIA G702 export</a:t>
            </a:r>
            <a:r>
              <a:rPr sz="1400" b="0">
                <a:solidFill>
                  <a:srgbClr val="4A5568"/>
                </a:solidFill>
                <a:latin typeface="Avenir Next"/>
              </a:rPr>
              <a:t>  —  sequenced by pilot feedback</a:t>
            </a:r>
          </a:p>
        </p:txBody>
      </p:sp>
      <p:sp>
        <p:nvSpPr>
          <p:cNvPr id="12" name="TextBox 11"/>
          <p:cNvSpPr txBox="1"/>
          <p:nvPr/>
        </p:nvSpPr>
        <p:spPr>
          <a:xfrm>
            <a:off x="502920" y="5715000"/>
            <a:ext cx="11155680" cy="548640"/>
          </a:xfrm>
          <a:prstGeom prst="rect">
            <a:avLst/>
          </a:prstGeom>
          <a:noFill/>
        </p:spPr>
        <p:txBody>
          <a:bodyPr wrap="square" anchor="t">
            <a:spAutoFit/>
          </a:bodyPr>
          <a:lstStyle/>
          <a:p>
            <a:pPr algn="l">
              <a:lnSpc>
                <a:spcPct val="106000"/>
              </a:lnSpc>
              <a:spcAft>
                <a:spcPts val="600"/>
              </a:spcAft>
            </a:pPr>
            <a:r>
              <a:rPr sz="1700" b="1">
                <a:solidFill>
                  <a:srgbClr val="B54E08"/>
                </a:solidFill>
                <a:latin typeface="Avenir Next"/>
              </a:rPr>
              <a:t>Ask:  </a:t>
            </a:r>
            <a:r>
              <a:rPr sz="1700" b="0">
                <a:solidFill>
                  <a:srgbClr val="1A1F2B"/>
                </a:solidFill>
                <a:latin typeface="Avenir Next"/>
              </a:rPr>
              <a:t>green-light the pilot — one project, one month, measured on estimator hours saved and change-order cycle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40080"/>
            <a:ext cx="10789920" cy="822960"/>
          </a:xfrm>
          <a:prstGeom prst="rect">
            <a:avLst/>
          </a:prstGeom>
          <a:noFill/>
        </p:spPr>
        <p:txBody>
          <a:bodyPr wrap="square" anchor="t">
            <a:spAutoFit/>
          </a:bodyPr>
          <a:lstStyle/>
          <a:p>
            <a:pPr algn="l">
              <a:lnSpc>
                <a:spcPct val="105000"/>
              </a:lnSpc>
              <a:spcAft>
                <a:spcPts val="600"/>
              </a:spcAft>
            </a:pPr>
            <a:r>
              <a:rPr sz="3000" b="1">
                <a:solidFill>
                  <a:srgbClr val="FFFFFF"/>
                </a:solidFill>
                <a:latin typeface="Avenir Next"/>
              </a:rPr>
              <a:t>Five lessons in agentic engineering,
all load-bearing in this build</a:t>
            </a:r>
          </a:p>
        </p:txBody>
      </p:sp>
      <p:sp>
        <p:nvSpPr>
          <p:cNvPr id="5" name="Rounded Rectangle 4"/>
          <p:cNvSpPr/>
          <p:nvPr/>
        </p:nvSpPr>
        <p:spPr>
          <a:xfrm>
            <a:off x="685800" y="1965960"/>
            <a:ext cx="502920" cy="502920"/>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latin typeface="Avenir Next"/>
              </a:rPr>
              <a:t>1</a:t>
            </a:r>
          </a:p>
        </p:txBody>
      </p:sp>
      <p:sp>
        <p:nvSpPr>
          <p:cNvPr id="6" name="TextBox 5"/>
          <p:cNvSpPr txBox="1"/>
          <p:nvPr/>
        </p:nvSpPr>
        <p:spPr>
          <a:xfrm>
            <a:off x="1417320" y="1947672"/>
            <a:ext cx="10058400" cy="457200"/>
          </a:xfrm>
          <a:prstGeom prst="rect">
            <a:avLst/>
          </a:prstGeom>
          <a:noFill/>
        </p:spPr>
        <p:txBody>
          <a:bodyPr wrap="square" anchor="t">
            <a:spAutoFit/>
          </a:bodyPr>
          <a:lstStyle/>
          <a:p>
            <a:pPr algn="l">
              <a:lnSpc>
                <a:spcPct val="106000"/>
              </a:lnSpc>
              <a:spcAft>
                <a:spcPts val="600"/>
              </a:spcAft>
            </a:pPr>
            <a:r>
              <a:rPr sz="1900" b="1">
                <a:solidFill>
                  <a:srgbClr val="FFFFFF"/>
                </a:solidFill>
                <a:latin typeface="Avenir Next"/>
              </a:rPr>
              <a:t>An agent is a loop with hands</a:t>
            </a:r>
            <a:r>
              <a:rPr sz="1450" b="0">
                <a:solidFill>
                  <a:srgbClr val="C9CED8"/>
                </a:solidFill>
                <a:latin typeface="Avenir Next"/>
              </a:rPr>
              <a:t>   —   capability = the toolbox you give it; governance lives in the tools</a:t>
            </a:r>
          </a:p>
        </p:txBody>
      </p:sp>
      <p:sp>
        <p:nvSpPr>
          <p:cNvPr id="7" name="Rounded Rectangle 6"/>
          <p:cNvSpPr/>
          <p:nvPr/>
        </p:nvSpPr>
        <p:spPr>
          <a:xfrm>
            <a:off x="685800" y="2834640"/>
            <a:ext cx="502920" cy="502920"/>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latin typeface="Avenir Next"/>
              </a:rPr>
              <a:t>2</a:t>
            </a:r>
          </a:p>
        </p:txBody>
      </p:sp>
      <p:sp>
        <p:nvSpPr>
          <p:cNvPr id="8" name="TextBox 7"/>
          <p:cNvSpPr txBox="1"/>
          <p:nvPr/>
        </p:nvSpPr>
        <p:spPr>
          <a:xfrm>
            <a:off x="1417320" y="2816352"/>
            <a:ext cx="10058400" cy="457200"/>
          </a:xfrm>
          <a:prstGeom prst="rect">
            <a:avLst/>
          </a:prstGeom>
          <a:noFill/>
        </p:spPr>
        <p:txBody>
          <a:bodyPr wrap="square" anchor="t">
            <a:spAutoFit/>
          </a:bodyPr>
          <a:lstStyle/>
          <a:p>
            <a:pPr algn="l">
              <a:lnSpc>
                <a:spcPct val="106000"/>
              </a:lnSpc>
              <a:spcAft>
                <a:spcPts val="600"/>
              </a:spcAft>
            </a:pPr>
            <a:r>
              <a:rPr sz="1900" b="1">
                <a:solidFill>
                  <a:srgbClr val="FFFFFF"/>
                </a:solidFill>
                <a:latin typeface="Avenir Next"/>
              </a:rPr>
              <a:t>Judgment to the model, arithmetic to code</a:t>
            </a:r>
            <a:r>
              <a:rPr sz="1450" b="0">
                <a:solidFill>
                  <a:srgbClr val="C9CED8"/>
                </a:solidFill>
                <a:latin typeface="Avenir Next"/>
              </a:rPr>
              <a:t>   —   a model error may misroute a value, never invent one</a:t>
            </a:r>
          </a:p>
        </p:txBody>
      </p:sp>
      <p:sp>
        <p:nvSpPr>
          <p:cNvPr id="9" name="Rounded Rectangle 8"/>
          <p:cNvSpPr/>
          <p:nvPr/>
        </p:nvSpPr>
        <p:spPr>
          <a:xfrm>
            <a:off x="685800" y="3703320"/>
            <a:ext cx="502920" cy="502920"/>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latin typeface="Avenir Next"/>
              </a:rPr>
              <a:t>3</a:t>
            </a:r>
          </a:p>
        </p:txBody>
      </p:sp>
      <p:sp>
        <p:nvSpPr>
          <p:cNvPr id="10" name="TextBox 9"/>
          <p:cNvSpPr txBox="1"/>
          <p:nvPr/>
        </p:nvSpPr>
        <p:spPr>
          <a:xfrm>
            <a:off x="1417320" y="3685032"/>
            <a:ext cx="10058400" cy="457200"/>
          </a:xfrm>
          <a:prstGeom prst="rect">
            <a:avLst/>
          </a:prstGeom>
          <a:noFill/>
        </p:spPr>
        <p:txBody>
          <a:bodyPr wrap="square" anchor="t">
            <a:spAutoFit/>
          </a:bodyPr>
          <a:lstStyle/>
          <a:p>
            <a:pPr algn="l">
              <a:lnSpc>
                <a:spcPct val="106000"/>
              </a:lnSpc>
              <a:spcAft>
                <a:spcPts val="600"/>
              </a:spcAft>
            </a:pPr>
            <a:r>
              <a:rPr sz="1900" b="1">
                <a:solidFill>
                  <a:srgbClr val="FFFFFF"/>
                </a:solidFill>
                <a:latin typeface="Avenir Next"/>
              </a:rPr>
              <a:t>Never trust — verify</a:t>
            </a:r>
            <a:r>
              <a:rPr sz="1450" b="0">
                <a:solidFill>
                  <a:srgbClr val="C9CED8"/>
                </a:solidFill>
                <a:latin typeface="Avenir Next"/>
              </a:rPr>
              <a:t>   —   schemas that force shown work, validators that check it, humans that gate it</a:t>
            </a:r>
          </a:p>
        </p:txBody>
      </p:sp>
      <p:sp>
        <p:nvSpPr>
          <p:cNvPr id="11" name="Rounded Rectangle 10"/>
          <p:cNvSpPr/>
          <p:nvPr/>
        </p:nvSpPr>
        <p:spPr>
          <a:xfrm>
            <a:off x="685800" y="4572000"/>
            <a:ext cx="502920" cy="502920"/>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latin typeface="Avenir Next"/>
              </a:rPr>
              <a:t>4</a:t>
            </a:r>
          </a:p>
        </p:txBody>
      </p:sp>
      <p:sp>
        <p:nvSpPr>
          <p:cNvPr id="12" name="TextBox 11"/>
          <p:cNvSpPr txBox="1"/>
          <p:nvPr/>
        </p:nvSpPr>
        <p:spPr>
          <a:xfrm>
            <a:off x="1417320" y="4553712"/>
            <a:ext cx="10058400" cy="457200"/>
          </a:xfrm>
          <a:prstGeom prst="rect">
            <a:avLst/>
          </a:prstGeom>
          <a:noFill/>
        </p:spPr>
        <p:txBody>
          <a:bodyPr wrap="square" anchor="t">
            <a:spAutoFit/>
          </a:bodyPr>
          <a:lstStyle/>
          <a:p>
            <a:pPr algn="l">
              <a:lnSpc>
                <a:spcPct val="106000"/>
              </a:lnSpc>
              <a:spcAft>
                <a:spcPts val="600"/>
              </a:spcAft>
            </a:pPr>
            <a:r>
              <a:rPr sz="1900" b="1">
                <a:solidFill>
                  <a:srgbClr val="FFFFFF"/>
                </a:solidFill>
                <a:latin typeface="Avenir Next"/>
              </a:rPr>
              <a:t>Context is a budget</a:t>
            </a:r>
            <a:r>
              <a:rPr sz="1450" b="0">
                <a:solidFill>
                  <a:srgbClr val="C9CED8"/>
                </a:solidFill>
                <a:latin typeface="Avenir Next"/>
              </a:rPr>
              <a:t>   —   summarize media, cache the stable, retrieve the rest — that's the unit economics</a:t>
            </a:r>
          </a:p>
        </p:txBody>
      </p:sp>
      <p:sp>
        <p:nvSpPr>
          <p:cNvPr id="13" name="Rounded Rectangle 12"/>
          <p:cNvSpPr/>
          <p:nvPr/>
        </p:nvSpPr>
        <p:spPr>
          <a:xfrm>
            <a:off x="685800" y="5440680"/>
            <a:ext cx="502920" cy="502920"/>
          </a:xfrm>
          <a:prstGeom prst="roundRect">
            <a:avLst>
              <a:gd name="adj" fmla="val 50000"/>
            </a:avLst>
          </a:prstGeom>
          <a:solidFill>
            <a:srgbClr val="E86C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latin typeface="Avenir Next"/>
              </a:rPr>
              <a:t>5</a:t>
            </a:r>
          </a:p>
        </p:txBody>
      </p:sp>
      <p:sp>
        <p:nvSpPr>
          <p:cNvPr id="14" name="TextBox 13"/>
          <p:cNvSpPr txBox="1"/>
          <p:nvPr/>
        </p:nvSpPr>
        <p:spPr>
          <a:xfrm>
            <a:off x="1417320" y="5422392"/>
            <a:ext cx="10058400" cy="457200"/>
          </a:xfrm>
          <a:prstGeom prst="rect">
            <a:avLst/>
          </a:prstGeom>
          <a:noFill/>
        </p:spPr>
        <p:txBody>
          <a:bodyPr wrap="square" anchor="t">
            <a:spAutoFit/>
          </a:bodyPr>
          <a:lstStyle/>
          <a:p>
            <a:pPr algn="l">
              <a:lnSpc>
                <a:spcPct val="106000"/>
              </a:lnSpc>
              <a:spcAft>
                <a:spcPts val="600"/>
              </a:spcAft>
            </a:pPr>
            <a:r>
              <a:rPr sz="1900" b="1">
                <a:solidFill>
                  <a:srgbClr val="FFFFFF"/>
                </a:solidFill>
                <a:latin typeface="Avenir Next"/>
              </a:rPr>
              <a:t>Autonomy per action, not per agent</a:t>
            </a:r>
            <a:r>
              <a:rPr sz="1450" b="0">
                <a:solidFill>
                  <a:srgbClr val="C9CED8"/>
                </a:solidFill>
                <a:latin typeface="Avenir Next"/>
              </a:rPr>
              <a:t>   —   append-only actions automate; contractual actions stay human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