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10-minute version: one slide of problem, three real conversations that show the solution working, then the component map with the rationale for every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Compressed problem statement. Three cards map one-to-one onto the three demos that follow: capture (chat 1), structured estimates (chat 2), delta pricing with evidence (chat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1 = the capture problem. Emphasize the flag: the model noticed this might be a changed condition and routed it toward change management without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2 = the structure problem. The confirm-before-commit line count + grand total is the moment the PM can catch a bad parse cheaply — a deliberate human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3 = the money shot, and it's real output from the live system. The second agent bubble arrives as a push notification -- drafting runs async at high reasoning effort while chat stays snappy.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room before the rationale slides: components 1-5 are the intelligent flow, 6-8 are the substrate of record. The two orange boxes are the only places model output originates.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row: what it is (middle), why it exists (right). The 'why' column is the argument that survives even if the implementation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5-8. If pressed on 'why not a big construction platform?': those systems assume the data was entered; this system exists to get the data captured and chained in the first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repeating the three-part fix — it mirrors the three problem cards and the three demos. Then the same pilot ask as the design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Avenir Next"/>
              </a:rPr>
              <a:t>The Construction Manager Agent,
in Three 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931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000" b="0">
                <a:solidFill>
                  <a:srgbClr val="C9CED8"/>
                </a:solidFill>
                <a:latin typeface="Avenir Next"/>
              </a:rPr>
              <a:t>The problem, the product in action, and why each piece exists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300" b="1">
                <a:solidFill>
                  <a:srgbClr val="1A1F2B"/>
                </a:solidFill>
                <a:latin typeface="Avenir Next"/>
              </a:rPr>
              <a:t>Three leaks in every change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REWORK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1A1F2B"/>
                </a:solidFill>
                <a:latin typeface="Avenir Next"/>
              </a:rPr>
              <a:t>Every change triggers a
full re-estimate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Avenir Next"/>
              </a:rPr>
              <a:t>Unchanged scope gets re-priced.
Hours of estimator time per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92024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NO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1A1F2B"/>
                </a:solidFill>
                <a:latin typeface="Avenir Next"/>
              </a:rPr>
              <a:t>The new number has
no trail to the old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7033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Avenir Next"/>
              </a:rPr>
              <a:t>Owners can't check it,
so they contest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92024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NO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65176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1A1F2B"/>
                </a:solidFill>
                <a:latin typeface="Avenir Next"/>
              </a:rPr>
              <a:t>Disputes are settled
by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37033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Avenir Next"/>
              </a:rPr>
              <a:t>Photos in phones, receipts in trucks,
directives in phone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1208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1324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>
                <a:solidFill>
                  <a:srgbClr val="1A1F2B"/>
                </a:solidFill>
                <a:latin typeface="Avenir Next"/>
              </a:rPr>
              <a:t>The fix:  </a:t>
            </a:r>
            <a:r>
              <a:rPr sz="1700" b="0">
                <a:solidFill>
                  <a:srgbClr val="4A5568"/>
                </a:solidFill>
                <a:latin typeface="Avenir Next"/>
              </a:rPr>
              <a:t>capture every field fact the moment it happens, price changes as a diff against the estimate, and chain every dollar to its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IN ACTION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Avenir Next"/>
              </a:rPr>
              <a:t>A photo from the field becomes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035040" cy="4892040"/>
          </a:xfrm>
          <a:prstGeom prst="roundRect">
            <a:avLst>
              <a:gd name="adj" fmla="val 4500"/>
            </a:avLst>
          </a:prstGeom>
          <a:solidFill>
            <a:srgbClr val="ECE5DD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035040" cy="457200"/>
          </a:xfrm>
          <a:prstGeom prst="roundRect">
            <a:avLst>
              <a:gd name="adj" fmla="val 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1E7A3C"/>
                </a:solidFill>
                <a:latin typeface="Avenir Next"/>
              </a:rPr>
              <a:t>● </a:t>
            </a:r>
            <a:r>
              <a:rPr sz="1300" b="1">
                <a:solidFill>
                  <a:srgbClr val="FFFFFF"/>
                </a:solidFill>
                <a:latin typeface="Avenir Next"/>
              </a:rPr>
              <a:t>Construction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3283" y="2221992"/>
            <a:ext cx="4393509" cy="384048"/>
          </a:xfrm>
          <a:prstGeom prst="roundRect">
            <a:avLst>
              <a:gd name="adj" fmla="val 14000"/>
            </a:avLst>
          </a:prstGeom>
          <a:solidFill>
            <a:srgbClr val="DC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1">
                <a:solidFill>
                  <a:srgbClr val="1A1F2B"/>
                </a:solidFill>
                <a:latin typeface="Avenir Next"/>
              </a:rPr>
              <a:t>📷  photo</a:t>
            </a:r>
            <a:r>
              <a:rPr sz="1250" b="0">
                <a:solidFill>
                  <a:srgbClr val="4A5568"/>
                </a:solidFill>
                <a:latin typeface="Avenir Next"/>
              </a:rPr>
              <a:t>   Garage bay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734056"/>
            <a:ext cx="4393509" cy="10424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Filed to </a:t>
            </a:r>
            <a:r>
              <a:rPr sz="1250" b="1">
                <a:solidFill>
                  <a:srgbClr val="1A1F2B"/>
                </a:solidFill>
                <a:latin typeface="Avenir Next"/>
              </a:rPr>
              <a:t>MAPLE</a:t>
            </a:r>
            <a:r>
              <a:rPr sz="1250" b="0">
                <a:solidFill>
                  <a:srgbClr val="1A1F2B"/>
                </a:solidFill>
                <a:latin typeface="Avenir Next"/>
              </a:rPr>
              <a:t>:</a:t>
            </a:r>
          </a:p>
          <a:p>
            <a:pPr>
              <a:lnSpc>
                <a:spcPct val="106000"/>
              </a:lnSpc>
            </a:pPr>
            <a:r>
              <a:rPr sz="1150" b="0">
                <a:solidFill>
                  <a:srgbClr val="B54E08"/>
                </a:solidFill>
                <a:latin typeface="Menlo"/>
              </a:rPr>
              <a:t>[photo art-12: cracked slab, garage bay 3]</a:t>
            </a:r>
          </a:p>
          <a:p>
            <a:pPr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Flagged as a possible changed condition. Want me to log a note for the structural engineer?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283" y="3904488"/>
            <a:ext cx="4393509" cy="384048"/>
          </a:xfrm>
          <a:prstGeom prst="roundRect">
            <a:avLst>
              <a:gd name="adj" fmla="val 14000"/>
            </a:avLst>
          </a:prstGeom>
          <a:solidFill>
            <a:srgbClr val="DC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Yes — and note the owner was told this is outside our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4416552"/>
            <a:ext cx="4393509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Note logged. The photo and your note are now ledger events #40 and #41 — citable evidence from today, not recollections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A1F2B"/>
                </a:solidFill>
                <a:latin typeface="Avenir Next"/>
              </a:rPr>
              <a:t>What just happened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Avenir Next"/>
              </a:rPr>
              <a:t>The agent saw the photo once, wrote a one-line summary, stored the original under a tamper-evident fingerprint, and filed it on the project ledger — all from a message the foreman would have sent anyway.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484632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Adoption cost: zero.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No app, no form, no training.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Filed in seconds, at the source.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The evidence chain starts the moment the fact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IN ACTION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Avenir Next"/>
              </a:rPr>
              <a:t>The estimate spreadsheet becomes structured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035040" cy="4892040"/>
          </a:xfrm>
          <a:prstGeom prst="roundRect">
            <a:avLst>
              <a:gd name="adj" fmla="val 4500"/>
            </a:avLst>
          </a:prstGeom>
          <a:solidFill>
            <a:srgbClr val="ECE5DD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035040" cy="457200"/>
          </a:xfrm>
          <a:prstGeom prst="roundRect">
            <a:avLst>
              <a:gd name="adj" fmla="val 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1E7A3C"/>
                </a:solidFill>
                <a:latin typeface="Avenir Next"/>
              </a:rPr>
              <a:t>● </a:t>
            </a:r>
            <a:r>
              <a:rPr sz="1300" b="1">
                <a:solidFill>
                  <a:srgbClr val="FFFFFF"/>
                </a:solidFill>
                <a:latin typeface="Avenir Next"/>
              </a:rPr>
              <a:t>Construction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3283" y="2221992"/>
            <a:ext cx="4393509" cy="384048"/>
          </a:xfrm>
          <a:prstGeom prst="roundRect">
            <a:avLst>
              <a:gd name="adj" fmla="val 14000"/>
            </a:avLst>
          </a:prstGeom>
          <a:solidFill>
            <a:srgbClr val="DC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1">
                <a:solidFill>
                  <a:srgbClr val="1A1F2B"/>
                </a:solidFill>
                <a:latin typeface="Avenir Next"/>
              </a:rPr>
              <a:t>📎  maple-bid-final.xlsx</a:t>
            </a:r>
            <a:r>
              <a:rPr sz="1250" b="0">
                <a:solidFill>
                  <a:srgbClr val="4A5568"/>
                </a:solidFill>
                <a:latin typeface="Avenir Next"/>
              </a:rPr>
              <a:t>   winning 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734056"/>
            <a:ext cx="4393509" cy="12618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Parsed </a:t>
            </a:r>
            <a:r>
              <a:rPr sz="1250" b="1">
                <a:solidFill>
                  <a:srgbClr val="1A1F2B"/>
                </a:solidFill>
                <a:latin typeface="Avenir Next"/>
              </a:rPr>
              <a:t>214 lines, $1,243,880.00</a:t>
            </a:r>
            <a:r>
              <a:rPr sz="1250" b="0">
                <a:solidFill>
                  <a:srgbClr val="1A1F2B"/>
                </a:solidFill>
                <a:latin typeface="Avenir Next"/>
              </a:rPr>
              <a:t>.</a:t>
            </a:r>
          </a:p>
          <a:p>
            <a:pPr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Skipped 2 subtotal rows. One flag: line 87's total doesn't equal qty × unit cost — kept as written, flagged for you.</a:t>
            </a:r>
          </a:p>
          <a:p>
            <a:pPr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Import as </a:t>
            </a:r>
            <a:r>
              <a:rPr sz="1250" b="1">
                <a:solidFill>
                  <a:srgbClr val="1A1F2B"/>
                </a:solidFill>
                <a:latin typeface="Avenir Next"/>
              </a:rPr>
              <a:t>Estimate v1</a:t>
            </a:r>
            <a:r>
              <a:rPr sz="1250" b="0">
                <a:solidFill>
                  <a:srgbClr val="1A1F2B"/>
                </a:solidFill>
                <a:latin typeface="Avenir Next"/>
              </a:rPr>
              <a:t> for MAPLE?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283" y="4123944"/>
            <a:ext cx="4393509" cy="384048"/>
          </a:xfrm>
          <a:prstGeom prst="roundRect">
            <a:avLst>
              <a:gd name="adj" fmla="val 14000"/>
            </a:avLst>
          </a:prstGeom>
          <a:solidFill>
            <a:srgbClr val="DC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4636008"/>
            <a:ext cx="4393509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Imported ✔ Estimate v1 is now the baseline every change will be priced against. On the ledger as event #7.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A1F2B"/>
                </a:solidFill>
                <a:latin typeface="Avenir Next"/>
              </a:rPr>
              <a:t>What just happened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Avenir Next"/>
              </a:rPr>
              <a:t>The model made exactly one judgment call — which column is which. Every number was copied from the file by code, re-multiplied to the cent, and nothing committed until the PM said yes.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484632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Discrepancies are flagged, never fixed.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Line 87 stays as written — with a flag.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Judgment vs. arithmetic.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Model reads the mess; code guarantees the math.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IN ACTION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Avenir Next"/>
              </a:rPr>
              <a:t>A change request becomes a priced, evidenced 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035040" cy="4892040"/>
          </a:xfrm>
          <a:prstGeom prst="roundRect">
            <a:avLst>
              <a:gd name="adj" fmla="val 4500"/>
            </a:avLst>
          </a:prstGeom>
          <a:solidFill>
            <a:srgbClr val="ECE5DD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6035040" cy="457200"/>
          </a:xfrm>
          <a:prstGeom prst="roundRect">
            <a:avLst>
              <a:gd name="adj" fmla="val 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1E7A3C"/>
                </a:solidFill>
                <a:latin typeface="Avenir Next"/>
              </a:rPr>
              <a:t>● </a:t>
            </a:r>
            <a:r>
              <a:rPr sz="1300" b="1">
                <a:solidFill>
                  <a:srgbClr val="FFFFFF"/>
                </a:solidFill>
                <a:latin typeface="Avenir Next"/>
              </a:rPr>
              <a:t>Construction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3283" y="2221992"/>
            <a:ext cx="4393509" cy="603504"/>
          </a:xfrm>
          <a:prstGeom prst="roundRect">
            <a:avLst>
              <a:gd name="adj" fmla="val 14000"/>
            </a:avLst>
          </a:prstGeom>
          <a:solidFill>
            <a:srgbClr val="DC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Owner confirmed: move the kitchen wall 2 ft north. Draft the change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953512"/>
            <a:ext cx="4393509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Drafting against Estimate v1 with 3 evidence events. Summary lands here in about a minute.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685032"/>
            <a:ext cx="4393509" cy="12618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1">
                <a:solidFill>
                  <a:srgbClr val="1A1F2B"/>
                </a:solidFill>
                <a:latin typeface="Avenir Next"/>
              </a:rPr>
              <a:t>Draft PCO #1 — Kitchen wall relocation</a:t>
            </a:r>
          </a:p>
          <a:p>
            <a:pPr>
              <a:lnSpc>
                <a:spcPct val="106000"/>
              </a:lnSpc>
            </a:pPr>
            <a:r>
              <a:rPr sz="1150" b="0">
                <a:solidFill>
                  <a:srgbClr val="1A1F2B"/>
                </a:solidFill>
                <a:latin typeface="Menlo"/>
              </a:rPr>
              <a:t>ADD  120 SF drywall   120 × $2.25 = $270.00</a:t>
            </a:r>
          </a:p>
          <a:p>
            <a:pPr>
              <a:lnSpc>
                <a:spcPct val="106000"/>
              </a:lnSpc>
            </a:pPr>
            <a:r>
              <a:rPr sz="1150" b="0">
                <a:solidFill>
                  <a:srgbClr val="1A1F2B"/>
                </a:solidFill>
                <a:latin typeface="Menlo"/>
              </a:rPr>
              <a:t>CR   40 SF closet      40 × $2.25 = $90.00</a:t>
            </a:r>
          </a:p>
          <a:p>
            <a:pPr>
              <a:lnSpc>
                <a:spcPct val="106000"/>
              </a:lnSpc>
            </a:pPr>
            <a:r>
              <a:rPr sz="1150" b="1">
                <a:solidFill>
                  <a:srgbClr val="1A1F2B"/>
                </a:solidFill>
                <a:latin typeface="Menlo"/>
              </a:rPr>
              <a:t>NET  $180.00</a:t>
            </a:r>
            <a:r>
              <a:rPr sz="1100" b="0">
                <a:solidFill>
                  <a:srgbClr val="4A5568"/>
                </a:solidFill>
                <a:latin typeface="Avenir Next"/>
              </a:rPr>
              <a:t>   · every line cites its evidence</a:t>
            </a:r>
          </a:p>
          <a:p>
            <a:pPr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Slab and all other scope untouched. Advance to COR?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3283" y="5074920"/>
            <a:ext cx="4393509" cy="384048"/>
          </a:xfrm>
          <a:prstGeom prst="roundRect">
            <a:avLst>
              <a:gd name="adj" fmla="val 14000"/>
            </a:avLst>
          </a:prstGeom>
          <a:solidFill>
            <a:srgbClr val="DCF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advance to COR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5586984"/>
            <a:ext cx="4393509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>
              <a:lnSpc>
                <a:spcPct val="106000"/>
              </a:lnSpc>
            </a:pPr>
            <a:r>
              <a:rPr sz="1250" b="0">
                <a:solidFill>
                  <a:srgbClr val="1A1F2B"/>
                </a:solidFill>
                <a:latin typeface="Avenir Next"/>
              </a:rPr>
              <a:t>PCO #1 → COR, on the ledger. Owner approval stays human — I can't advance it further.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>
                <a:solidFill>
                  <a:srgbClr val="1A1F2B"/>
                </a:solidFill>
                <a:latin typeface="Avenir Next"/>
              </a:rPr>
              <a:t>What just happened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Avenir Next"/>
              </a:rPr>
              <a:t>Only the delta was priced — from the estimate's own unit costs, not thin air. Code re-checked every multiplication and citation before the draft existed. This is a real run: 14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77639"/>
            <a:ext cx="4846320" cy="27432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No re-estimate.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213 of 214 lines never touched.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Validatable by construction.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Math shown, evidence cited, basis named.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1A1F2B"/>
                </a:solidFill>
                <a:latin typeface="Avenir Next"/>
              </a:rPr>
              <a:t>Approval is structurally human.</a:t>
            </a:r>
            <a:r>
              <a:rPr sz="1400" b="0">
                <a:solidFill>
                  <a:srgbClr val="4A5568"/>
                </a:solidFill>
                <a:latin typeface="Avenir Next"/>
              </a:rPr>
              <a:t>  —  The model cannot approve its own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300" b="1">
                <a:solidFill>
                  <a:srgbClr val="1A1F2B"/>
                </a:solidFill>
                <a:latin typeface="Avenir Next"/>
              </a:rPr>
              <a:t>Eight components, one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65960" cy="1143000"/>
          </a:xfrm>
          <a:prstGeom prst="roundRect">
            <a:avLst>
              <a:gd name="adj" fmla="val 14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Avenir Next"/>
              </a:rPr>
              <a:t>1 · CHANNELS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WhatsApp · Telegram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3744" y="2441447"/>
            <a:ext cx="256032" cy="0"/>
          </a:xfrm>
          <a:prstGeom prst="bentConnector3">
            <a:avLst/>
          </a:prstGeom>
          <a:ln w="279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74519"/>
            <a:ext cx="1965960" cy="1143000"/>
          </a:xfrm>
          <a:prstGeom prst="roundRect">
            <a:avLst>
              <a:gd name="adj" fmla="val 14000"/>
            </a:avLst>
          </a:prstGeom>
          <a:solidFill>
            <a:srgbClr val="FDF0E4"/>
          </a:solidFill>
          <a:ln w="12700">
            <a:solidFill>
              <a:srgbClr val="E86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54E08"/>
                </a:solidFill>
                <a:latin typeface="Avenir Next"/>
              </a:rPr>
              <a:t>2 · AGENT LOOP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Claude Opus 5
+ 12 tools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9744" y="2441447"/>
            <a:ext cx="256032" cy="0"/>
          </a:xfrm>
          <a:prstGeom prst="bentConnector3">
            <a:avLst/>
          </a:prstGeom>
          <a:ln w="279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874519"/>
            <a:ext cx="1965960" cy="1143000"/>
          </a:xfrm>
          <a:prstGeom prst="roundRect">
            <a:avLst>
              <a:gd name="adj" fmla="val 14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Avenir Next"/>
              </a:rPr>
              <a:t>3 · INGESTION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classify · extract
fingerprint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95744" y="2441447"/>
            <a:ext cx="256031" cy="0"/>
          </a:xfrm>
          <a:prstGeom prst="bentConnector3">
            <a:avLst/>
          </a:prstGeom>
          <a:ln w="279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874519"/>
            <a:ext cx="1965960" cy="1143000"/>
          </a:xfrm>
          <a:prstGeom prst="roundRect">
            <a:avLst>
              <a:gd name="adj" fmla="val 14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Avenir Next"/>
              </a:rPr>
              <a:t>4 · IMPORTER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spreadsheet →
estimate lines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81744" y="2441447"/>
            <a:ext cx="256032" cy="0"/>
          </a:xfrm>
          <a:prstGeom prst="bentConnector3">
            <a:avLst/>
          </a:prstGeom>
          <a:ln w="279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874519"/>
            <a:ext cx="2057400" cy="1143000"/>
          </a:xfrm>
          <a:prstGeom prst="roundRect">
            <a:avLst>
              <a:gd name="adj" fmla="val 14000"/>
            </a:avLst>
          </a:prstGeom>
          <a:solidFill>
            <a:srgbClr val="FDF0E4"/>
          </a:solidFill>
          <a:ln w="12700">
            <a:solidFill>
              <a:srgbClr val="E86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54E08"/>
                </a:solidFill>
                <a:latin typeface="Avenir Next"/>
              </a:rPr>
              <a:t>5 · RECONCILER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change → delta CO
+ validators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657600"/>
            <a:ext cx="2651760" cy="1143000"/>
          </a:xfrm>
          <a:prstGeom prst="roundRect">
            <a:avLst>
              <a:gd name="adj" fmla="val 14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Avenir Next"/>
              </a:rPr>
              <a:t>6 · LEDGER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append-only, hash-chained
Postgres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3657600"/>
            <a:ext cx="2651760" cy="1143000"/>
          </a:xfrm>
          <a:prstGeom prst="roundRect">
            <a:avLst>
              <a:gd name="adj" fmla="val 14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Avenir Next"/>
              </a:rPr>
              <a:t>7 · BLOB STORE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photos &amp; documents
content-addressed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657600"/>
            <a:ext cx="2651760" cy="1143000"/>
          </a:xfrm>
          <a:prstGeom prst="roundRect">
            <a:avLst>
              <a:gd name="adj" fmla="val 14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Avenir Next"/>
              </a:rPr>
              <a:t>8 · AUDIT VIEW</a:t>
            </a:r>
          </a:p>
          <a:p>
            <a:pPr algn="ctr">
              <a:lnSpc>
                <a:spcPct val="100000"/>
              </a:lnSpc>
            </a:pPr>
            <a:r>
              <a:rPr sz="1100">
                <a:solidFill>
                  <a:srgbClr val="4A5568"/>
                </a:solidFill>
                <a:latin typeface="Avenir Next"/>
              </a:rPr>
              <a:t>read-only web
dispute lookups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500" b="0">
                <a:solidFill>
                  <a:srgbClr val="4A5568"/>
                </a:solidFill>
                <a:latin typeface="Avenir Next"/>
              </a:rPr>
              <a:t>Top row touches the model. Bottom row is the system of record — plain, boring, verifiable infrastructure.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Avenir Next"/>
              </a:rPr>
              <a:t>Design stance:  </a:t>
            </a:r>
            <a:r>
              <a:rPr sz="1500" b="0">
                <a:solidFill>
                  <a:srgbClr val="4A5568"/>
                </a:solidFill>
                <a:latin typeface="Avenir Next"/>
              </a:rPr>
              <a:t>intelligence at the edges, determinism at the core. The model never writes to the record directly — every write goes through validated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COMPONENT RATIONALE ·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Avenir Next"/>
              </a:rPr>
              <a:t>The intelligent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6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1 · Chat channels
WhatsApp +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1109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Webhook + polling adapters; signatures verified; retries deduplicated; media downloaded instantly.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11096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field adoption is where construction software dies — so the interface is the app crews already open 50 times a day. Two channels, one agent: the handle is swappable, the brain isn't.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35224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2 · Agent loop
Claude Opus 5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63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The model reasons over each message and acts through ~12 narrow, typed, logged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tools replace UI. New capability = one new tool, not a redesign. And governance lives in the tools — ordinary code we control — not in model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87368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15384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3 · Ingestion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21538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Every file: fingerprint → store → one vision call → summary + change-signal flag → ledger event.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215384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look at heavy media once, then carry a 60-character summary forever. Keeps conversations fast and cheap while originals stay pristine for disputes.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39512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67528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4 · Estimate importer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36752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Spreadsheet in; model maps columns; code copies values, checks math, PM confirms before commit.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367528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the estimate is the baseline every change is priced against — so it enters the system with model judgment but code-guaranteed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B54E08"/>
                </a:solidFill>
                <a:latin typeface="Avenir Next"/>
              </a:rPr>
              <a:t>COMPONENT RATIONALE · 5–8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10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8D4CC"/>
                </a:solidFill>
                <a:latin typeface="Avenir Next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000" b="1">
                <a:solidFill>
                  <a:srgbClr val="1A1F2B"/>
                </a:solidFill>
                <a:latin typeface="Avenir Next"/>
              </a:rPr>
              <a:t>The system of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6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5 · Reconciliation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1109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One deep-reasoning call drafts the delta CO; validators re-check math, citations, and credit bounds; one repair pass; PM gates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11096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this is the product's core claim. Generation is probabilistic, so acceptance is deterministic: nothing becomes a draft until code has verified every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35224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6 · Append-only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63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Every event hash-chained per project; database physically rejects edits; corrections are new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traceability that depends on discipline fails under deadline pressure. Ours is structural: tampering isn't forbidden by policy — it's made self-evident by math.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87368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15384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7 · Content-addressed blob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21538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Originals stored under their own fingerprint; the ledger references the hash.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215384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a photo that might end up in arbitration must be provably the same bytes that arrived from the field. Content addressing makes substitution detectable.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39512"/>
            <a:ext cx="11155680" cy="1024128"/>
          </a:xfrm>
          <a:prstGeom prst="roundRect">
            <a:avLst>
              <a:gd name="adj" fmla="val 9000"/>
            </a:avLst>
          </a:prstGeom>
          <a:solidFill>
            <a:srgbClr val="FAF8F5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67528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B54E08"/>
                </a:solidFill>
                <a:latin typeface="Avenir Next"/>
              </a:rPr>
              <a:t>8 · Audit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36752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Avenir Next"/>
              </a:rPr>
              <a:t>Token-gated, read-only web pages: timelines, estimate versions, CO lines walkable to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367528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A1F2B"/>
                </a:solidFill>
                <a:latin typeface="Avenir Next"/>
              </a:rPr>
              <a:t>Why:  </a:t>
            </a:r>
            <a:r>
              <a:rPr sz="1300" b="0">
                <a:solidFill>
                  <a:srgbClr val="4A5568"/>
                </a:solidFill>
                <a:latin typeface="Avenir Next"/>
              </a:rPr>
              <a:t>the ledger's value is realized at lookup time — by the back office or opposing counsel. Read-only by design: the audit surface can never mutate what it audits.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venir Next"/>
              </a:rPr>
              <a:t>Capture at the source.
Price only the delta.
Chain every dollar to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23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700" b="0">
                <a:solidFill>
                  <a:srgbClr val="C9CED8"/>
                </a:solidFill>
                <a:latin typeface="Avenir Next"/>
              </a:rPr>
              <a:t>Working today on a live chat handle · reconciliation proven against the live model · 57 automated tests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venir Next"/>
              </a:rPr>
              <a:t>Next: cloud deployment, the WhatsApp business number, and a one-project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